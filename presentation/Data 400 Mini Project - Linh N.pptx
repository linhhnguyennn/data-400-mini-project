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19ea1a607ce1d8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h19ea1a607ce1d8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2dfe167be89b0986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h2dfe167be89b0986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2dfe167be89b0986_1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2dfe167be89b0986_1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2dfe167be89b0986_1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h2dfe167be89b0986_1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2dfe167be89b0986_1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2dfe167be89b0986_1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2dfe167be89b0986_1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2dfe167be89b0986_1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2dfe167be89b0986_1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2dfe167be89b0986_1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2dfe167be89b0986_1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2dfe167be89b0986_1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2dfe167be89b0986_1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h2dfe167be89b0986_1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2dfe167be89b0986_1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2dfe167be89b0986_1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2dfe167be89b0986_1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2dfe167be89b0986_1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2dfe167be89b0986_1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h2dfe167be89b0986_1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2dfe167be89b0986_1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h2dfe167be89b0986_1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2dfe167be89b0986_1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h2dfe167be89b0986_1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3.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1.png"/><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73150" y="1424575"/>
            <a:ext cx="4899300" cy="2052600"/>
          </a:xfrm>
          <a:prstGeom prst="rect">
            <a:avLst/>
          </a:prstGeom>
        </p:spPr>
        <p:txBody>
          <a:bodyPr anchorCtr="0" anchor="b" bIns="91425" lIns="91425" spcFirstLastPara="1" rIns="91425" wrap="square" tIns="91425">
            <a:noAutofit/>
          </a:bodyPr>
          <a:lstStyle/>
          <a:p>
            <a:pPr indent="0" lvl="0" marL="0" rtl="0" algn="l">
              <a:lnSpc>
                <a:spcPct val="110000"/>
              </a:lnSpc>
              <a:spcBef>
                <a:spcPts val="0"/>
              </a:spcBef>
              <a:spcAft>
                <a:spcPts val="1200"/>
              </a:spcAft>
              <a:buNone/>
            </a:pPr>
            <a:r>
              <a:rPr b="1" lang="en" sz="3900">
                <a:solidFill>
                  <a:schemeClr val="lt1"/>
                </a:solidFill>
                <a:latin typeface="Georgia"/>
                <a:ea typeface="Georgia"/>
                <a:cs typeface="Georgia"/>
                <a:sym typeface="Georgia"/>
              </a:rPr>
              <a:t>Do American films rate differently from the rest of the world's?</a:t>
            </a:r>
            <a:endParaRPr sz="3900">
              <a:solidFill>
                <a:schemeClr val="lt1"/>
              </a:solidFill>
            </a:endParaRPr>
          </a:p>
        </p:txBody>
      </p:sp>
      <p:sp>
        <p:nvSpPr>
          <p:cNvPr id="55" name="Google Shape;55;p13"/>
          <p:cNvSpPr txBox="1"/>
          <p:nvPr/>
        </p:nvSpPr>
        <p:spPr>
          <a:xfrm>
            <a:off x="273150" y="3650525"/>
            <a:ext cx="4260300" cy="13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lang="en" sz="1200">
                <a:solidFill>
                  <a:schemeClr val="lt2"/>
                </a:solidFill>
              </a:rPr>
              <a:t>A comparison of Letterboxd average ratings for American and non-American films, and whether the gap changes by genre.</a:t>
            </a:r>
            <a:endParaRPr sz="1200">
              <a:solidFill>
                <a:schemeClr val="lt2"/>
              </a:solidFill>
            </a:endParaRPr>
          </a:p>
          <a:p>
            <a:pPr indent="0" lvl="0" marL="0" rtl="0" algn="l">
              <a:lnSpc>
                <a:spcPct val="115000"/>
              </a:lnSpc>
              <a:spcBef>
                <a:spcPts val="500"/>
              </a:spcBef>
              <a:spcAft>
                <a:spcPts val="0"/>
              </a:spcAft>
              <a:buNone/>
            </a:pPr>
            <a:r>
              <a:t/>
            </a:r>
            <a:endParaRPr sz="1200">
              <a:solidFill>
                <a:schemeClr val="lt2"/>
              </a:solidFill>
            </a:endParaRPr>
          </a:p>
          <a:p>
            <a:pPr indent="0" lvl="0" marL="0" rtl="0" algn="l">
              <a:lnSpc>
                <a:spcPct val="115000"/>
              </a:lnSpc>
              <a:spcBef>
                <a:spcPts val="500"/>
              </a:spcBef>
              <a:spcAft>
                <a:spcPts val="500"/>
              </a:spcAft>
              <a:buNone/>
            </a:pPr>
            <a:r>
              <a:rPr lang="en" sz="1200">
                <a:solidFill>
                  <a:schemeClr val="lt2"/>
                </a:solidFill>
              </a:rPr>
              <a:t>LINH NGUYEN</a:t>
            </a:r>
            <a:endParaRPr sz="1200">
              <a:solidFill>
                <a:schemeClr val="lt2"/>
              </a:solidFill>
            </a:endParaRPr>
          </a:p>
        </p:txBody>
      </p:sp>
      <p:pic>
        <p:nvPicPr>
          <p:cNvPr id="56" name="Google Shape;56;p13" title="Screenshot 2026-10-08 at 3.06.19 PM.png"/>
          <p:cNvPicPr preferRelativeResize="0"/>
          <p:nvPr/>
        </p:nvPicPr>
        <p:blipFill rotWithShape="1">
          <a:blip r:embed="rId3">
            <a:alphaModFix/>
          </a:blip>
          <a:srcRect b="0" l="1759" r="0" t="0"/>
          <a:stretch/>
        </p:blipFill>
        <p:spPr>
          <a:xfrm>
            <a:off x="4650281" y="0"/>
            <a:ext cx="4493717" cy="51435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244750" y="148950"/>
            <a:ext cx="5081700" cy="437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600">
                <a:solidFill>
                  <a:schemeClr val="lt1"/>
                </a:solidFill>
                <a:latin typeface="Georgia"/>
                <a:ea typeface="Georgia"/>
                <a:cs typeface="Georgia"/>
                <a:sym typeface="Georgia"/>
              </a:rPr>
              <a:t>Who this is for:</a:t>
            </a:r>
            <a:endParaRPr b="1" sz="1600">
              <a:solidFill>
                <a:schemeClr val="lt1"/>
              </a:solidFill>
              <a:latin typeface="Georgia"/>
              <a:ea typeface="Georgia"/>
              <a:cs typeface="Georgia"/>
              <a:sym typeface="Georgia"/>
            </a:endParaRPr>
          </a:p>
          <a:p>
            <a:pPr indent="-304800" lvl="0" marL="457200" rtl="0" algn="l">
              <a:lnSpc>
                <a:spcPct val="115000"/>
              </a:lnSpc>
              <a:spcBef>
                <a:spcPts val="1200"/>
              </a:spcBef>
              <a:spcAft>
                <a:spcPts val="0"/>
              </a:spcAft>
              <a:buClr>
                <a:schemeClr val="lt1"/>
              </a:buClr>
              <a:buSzPts val="1200"/>
              <a:buChar char="●"/>
            </a:pPr>
            <a:r>
              <a:rPr lang="en" sz="1200">
                <a:solidFill>
                  <a:schemeClr val="lt1"/>
                </a:solidFill>
              </a:rPr>
              <a:t>Film and media scholars studying how American cinema is received abroad and at home</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n" sz="1200">
                <a:solidFill>
                  <a:schemeClr val="lt1"/>
                </a:solidFill>
              </a:rPr>
              <a:t>Letterboxd users and critics who use ratings to find films</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n" sz="1200">
                <a:solidFill>
                  <a:schemeClr val="lt1"/>
                </a:solidFill>
              </a:rPr>
              <a:t>Film distributors and studios deciding how to position and market films</a:t>
            </a:r>
            <a:endParaRPr sz="1200">
              <a:solidFill>
                <a:schemeClr val="lt1"/>
              </a:solidFill>
            </a:endParaRPr>
          </a:p>
          <a:p>
            <a:pPr indent="0" lvl="0" marL="0" rtl="0" algn="l">
              <a:lnSpc>
                <a:spcPct val="115000"/>
              </a:lnSpc>
              <a:spcBef>
                <a:spcPts val="1200"/>
              </a:spcBef>
              <a:spcAft>
                <a:spcPts val="0"/>
              </a:spcAft>
              <a:buNone/>
            </a:pPr>
            <a:r>
              <a:rPr b="1" lang="en" sz="1600">
                <a:solidFill>
                  <a:schemeClr val="lt1"/>
                </a:solidFill>
                <a:latin typeface="Georgia"/>
                <a:ea typeface="Georgia"/>
                <a:cs typeface="Georgia"/>
                <a:sym typeface="Georgia"/>
              </a:rPr>
              <a:t>Stakeholders</a:t>
            </a:r>
            <a:endParaRPr b="1" sz="1600">
              <a:solidFill>
                <a:schemeClr val="lt1"/>
              </a:solidFill>
              <a:latin typeface="Georgia"/>
              <a:ea typeface="Georgia"/>
              <a:cs typeface="Georgia"/>
              <a:sym typeface="Georgia"/>
            </a:endParaRPr>
          </a:p>
          <a:p>
            <a:pPr indent="-304800" lvl="0" marL="457200" rtl="0" algn="l">
              <a:lnSpc>
                <a:spcPct val="115000"/>
              </a:lnSpc>
              <a:spcBef>
                <a:spcPts val="1200"/>
              </a:spcBef>
              <a:spcAft>
                <a:spcPts val="0"/>
              </a:spcAft>
              <a:buClr>
                <a:schemeClr val="lt1"/>
              </a:buClr>
              <a:buSzPts val="1200"/>
              <a:buChar char="●"/>
            </a:pPr>
            <a:r>
              <a:rPr b="1" lang="en" sz="1200">
                <a:solidFill>
                  <a:schemeClr val="lt1"/>
                </a:solidFill>
              </a:rPr>
              <a:t>Studios, distributors:</a:t>
            </a:r>
            <a:r>
              <a:rPr lang="en" sz="1200">
                <a:solidFill>
                  <a:schemeClr val="lt1"/>
                </a:solidFill>
              </a:rPr>
              <a:t> Use the genre gaps to see where US films face tougher audiences (Sci-Fi, Fantasy, Horror, Action).</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 sz="1200">
                <a:solidFill>
                  <a:schemeClr val="lt1"/>
                </a:solidFill>
              </a:rPr>
              <a:t>Film scholars / American Studies:</a:t>
            </a:r>
            <a:r>
              <a:rPr lang="en" sz="1200">
                <a:solidFill>
                  <a:schemeClr val="lt1"/>
                </a:solidFill>
              </a:rPr>
              <a:t> Study how American cinema is judged by a cinephile audience, and where the gap is widest (franchise genres) or reversed (Documentary).</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 sz="1200">
                <a:solidFill>
                  <a:schemeClr val="lt1"/>
                </a:solidFill>
              </a:rPr>
              <a:t>Letterboxd and recommender systems: </a:t>
            </a:r>
            <a:r>
              <a:rPr lang="en" sz="1200">
                <a:solidFill>
                  <a:schemeClr val="lt1"/>
                </a:solidFill>
              </a:rPr>
              <a:t>Check whether ranking by average rating favors non-US films.</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 sz="1200">
                <a:solidFill>
                  <a:schemeClr val="lt1"/>
                </a:solidFill>
              </a:rPr>
              <a:t>Filmmakers and festivals: </a:t>
            </a:r>
            <a:r>
              <a:rPr lang="en" sz="1200">
                <a:solidFill>
                  <a:schemeClr val="lt1"/>
                </a:solidFill>
              </a:rPr>
              <a:t>Understand how origin shapes reception.</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 sz="1200">
                <a:solidFill>
                  <a:schemeClr val="lt1"/>
                </a:solidFill>
              </a:rPr>
              <a:t>Viewers: </a:t>
            </a:r>
            <a:r>
              <a:rPr lang="en" sz="1200">
                <a:solidFill>
                  <a:schemeClr val="lt1"/>
                </a:solidFill>
              </a:rPr>
              <a:t>Read ratings with the genre and origin context in mind.</a:t>
            </a:r>
            <a:endParaRPr sz="1200">
              <a:solidFill>
                <a:schemeClr val="lt1"/>
              </a:solidFill>
            </a:endParaRPr>
          </a:p>
        </p:txBody>
      </p:sp>
      <p:pic>
        <p:nvPicPr>
          <p:cNvPr id="62" name="Google Shape;62;p14"/>
          <p:cNvPicPr preferRelativeResize="0"/>
          <p:nvPr/>
        </p:nvPicPr>
        <p:blipFill>
          <a:blip r:embed="rId3">
            <a:alphaModFix/>
          </a:blip>
          <a:stretch>
            <a:fillRect/>
          </a:stretch>
        </p:blipFill>
        <p:spPr>
          <a:xfrm>
            <a:off x="5667707" y="68128"/>
            <a:ext cx="3415299" cy="5011600"/>
          </a:xfrm>
          <a:prstGeom prst="rect">
            <a:avLst/>
          </a:prstGeom>
          <a:noFill/>
          <a:ln cap="flat" cmpd="sng" w="19050">
            <a:solidFill>
              <a:schemeClr val="lt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990"/>
              <a:buFont typeface="Arial"/>
              <a:buNone/>
            </a:pPr>
            <a:r>
              <a:rPr b="1" lang="en" sz="1830">
                <a:solidFill>
                  <a:schemeClr val="lt1"/>
                </a:solidFill>
                <a:latin typeface="Georgia"/>
                <a:ea typeface="Georgia"/>
                <a:cs typeface="Georgia"/>
                <a:sym typeface="Georgia"/>
              </a:rPr>
              <a:t>The data: one row per film</a:t>
            </a:r>
            <a:endParaRPr b="1" sz="1830">
              <a:solidFill>
                <a:schemeClr val="lt1"/>
              </a:solidFill>
              <a:latin typeface="Georgia"/>
              <a:ea typeface="Georgia"/>
              <a:cs typeface="Georgia"/>
              <a:sym typeface="Georgia"/>
            </a:endParaRPr>
          </a:p>
          <a:p>
            <a:pPr indent="0" lvl="0" marL="0" rtl="0" algn="l">
              <a:spcBef>
                <a:spcPts val="900"/>
              </a:spcBef>
              <a:spcAft>
                <a:spcPts val="0"/>
              </a:spcAft>
              <a:buSzPts val="990"/>
              <a:buNone/>
            </a:pPr>
            <a:r>
              <a:t/>
            </a:r>
            <a:endParaRPr sz="2520"/>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152400" rtl="0" algn="l">
              <a:lnSpc>
                <a:spcPct val="100000"/>
              </a:lnSpc>
              <a:spcBef>
                <a:spcPts val="1300"/>
              </a:spcBef>
              <a:spcAft>
                <a:spcPts val="0"/>
              </a:spcAft>
              <a:buClr>
                <a:schemeClr val="dk1"/>
              </a:buClr>
              <a:buSzPts val="1100"/>
              <a:buFont typeface="Arial"/>
              <a:buNone/>
            </a:pPr>
            <a:r>
              <a:rPr b="1" lang="en" sz="1200">
                <a:solidFill>
                  <a:schemeClr val="lt1"/>
                </a:solidFill>
                <a:latin typeface="Georgia"/>
                <a:ea typeface="Georgia"/>
                <a:cs typeface="Georgia"/>
                <a:sym typeface="Georgia"/>
              </a:rPr>
              <a:t>941,597</a:t>
            </a:r>
            <a:endParaRPr b="1" sz="1200">
              <a:solidFill>
                <a:schemeClr val="lt1"/>
              </a:solidFill>
              <a:latin typeface="Georgia"/>
              <a:ea typeface="Georgia"/>
              <a:cs typeface="Georgia"/>
              <a:sym typeface="Georgia"/>
            </a:endParaRPr>
          </a:p>
          <a:p>
            <a:pPr indent="0" lvl="0" marL="152400" rtl="0" algn="l">
              <a:spcBef>
                <a:spcPts val="1800"/>
              </a:spcBef>
              <a:spcAft>
                <a:spcPts val="0"/>
              </a:spcAft>
              <a:buClr>
                <a:schemeClr val="dk1"/>
              </a:buClr>
              <a:buSzPts val="1100"/>
              <a:buFont typeface="Arial"/>
              <a:buNone/>
            </a:pPr>
            <a:r>
              <a:rPr lang="en" sz="1200">
                <a:solidFill>
                  <a:schemeClr val="lt1"/>
                </a:solidFill>
              </a:rPr>
              <a:t>films in the dataset</a:t>
            </a:r>
            <a:endParaRPr sz="1200">
              <a:solidFill>
                <a:schemeClr val="lt1"/>
              </a:solidFill>
            </a:endParaRPr>
          </a:p>
          <a:p>
            <a:pPr indent="0" lvl="0" marL="152400" rtl="0" algn="l">
              <a:lnSpc>
                <a:spcPct val="100000"/>
              </a:lnSpc>
              <a:spcBef>
                <a:spcPts val="1300"/>
              </a:spcBef>
              <a:spcAft>
                <a:spcPts val="0"/>
              </a:spcAft>
              <a:buClr>
                <a:schemeClr val="dk1"/>
              </a:buClr>
              <a:buSzPts val="1100"/>
              <a:buFont typeface="Arial"/>
              <a:buNone/>
            </a:pPr>
            <a:r>
              <a:rPr b="1" lang="en" sz="1200">
                <a:solidFill>
                  <a:schemeClr val="lt1"/>
                </a:solidFill>
                <a:latin typeface="Georgia"/>
                <a:ea typeface="Georgia"/>
                <a:cs typeface="Georgia"/>
                <a:sym typeface="Georgia"/>
              </a:rPr>
              <a:t>90,999</a:t>
            </a:r>
            <a:endParaRPr b="1" sz="1200">
              <a:solidFill>
                <a:schemeClr val="lt1"/>
              </a:solidFill>
              <a:latin typeface="Georgia"/>
              <a:ea typeface="Georgia"/>
              <a:cs typeface="Georgia"/>
              <a:sym typeface="Georgia"/>
            </a:endParaRPr>
          </a:p>
          <a:p>
            <a:pPr indent="0" lvl="0" marL="152400" rtl="0" algn="l">
              <a:spcBef>
                <a:spcPts val="1800"/>
              </a:spcBef>
              <a:spcAft>
                <a:spcPts val="0"/>
              </a:spcAft>
              <a:buClr>
                <a:schemeClr val="dk1"/>
              </a:buClr>
              <a:buSzPts val="1100"/>
              <a:buFont typeface="Arial"/>
              <a:buNone/>
            </a:pPr>
            <a:r>
              <a:rPr lang="en" sz="1200">
                <a:solidFill>
                  <a:schemeClr val="lt1"/>
                </a:solidFill>
              </a:rPr>
              <a:t>have an average rating (5-star scale)</a:t>
            </a:r>
            <a:endParaRPr sz="1200">
              <a:solidFill>
                <a:schemeClr val="lt1"/>
              </a:solidFill>
            </a:endParaRPr>
          </a:p>
          <a:p>
            <a:pPr indent="0" lvl="0" marL="152400" rtl="0" algn="l">
              <a:lnSpc>
                <a:spcPct val="100000"/>
              </a:lnSpc>
              <a:spcBef>
                <a:spcPts val="1300"/>
              </a:spcBef>
              <a:spcAft>
                <a:spcPts val="0"/>
              </a:spcAft>
              <a:buClr>
                <a:schemeClr val="dk1"/>
              </a:buClr>
              <a:buSzPts val="1100"/>
              <a:buFont typeface="Arial"/>
              <a:buNone/>
            </a:pPr>
            <a:r>
              <a:rPr b="1" lang="en" sz="1200">
                <a:solidFill>
                  <a:schemeClr val="lt1"/>
                </a:solidFill>
                <a:latin typeface="Georgia"/>
                <a:ea typeface="Georgia"/>
                <a:cs typeface="Georgia"/>
                <a:sym typeface="Georgia"/>
              </a:rPr>
              <a:t>87,286</a:t>
            </a:r>
            <a:endParaRPr b="1" sz="1200">
              <a:solidFill>
                <a:schemeClr val="lt1"/>
              </a:solidFill>
              <a:latin typeface="Georgia"/>
              <a:ea typeface="Georgia"/>
              <a:cs typeface="Georgia"/>
              <a:sym typeface="Georgia"/>
            </a:endParaRPr>
          </a:p>
          <a:p>
            <a:pPr indent="0" lvl="0" marL="152400" rtl="0" algn="l">
              <a:spcBef>
                <a:spcPts val="1800"/>
              </a:spcBef>
              <a:spcAft>
                <a:spcPts val="0"/>
              </a:spcAft>
              <a:buClr>
                <a:schemeClr val="dk1"/>
              </a:buClr>
              <a:buSzPts val="1100"/>
              <a:buFont typeface="Arial"/>
              <a:buNone/>
            </a:pPr>
            <a:r>
              <a:rPr lang="en" sz="1200">
                <a:solidFill>
                  <a:schemeClr val="lt1"/>
                </a:solidFill>
              </a:rPr>
              <a:t>usable after cleaning</a:t>
            </a:r>
            <a:endParaRPr sz="1200">
              <a:solidFill>
                <a:schemeClr val="lt1"/>
              </a:solidFill>
            </a:endParaRPr>
          </a:p>
          <a:p>
            <a:pPr indent="-304800" lvl="0" marL="457200" rtl="0" algn="l">
              <a:spcBef>
                <a:spcPts val="900"/>
              </a:spcBef>
              <a:spcAft>
                <a:spcPts val="0"/>
              </a:spcAft>
              <a:buClr>
                <a:schemeClr val="lt1"/>
              </a:buClr>
              <a:buSzPts val="1200"/>
              <a:buChar char="●"/>
            </a:pPr>
            <a:r>
              <a:rPr b="1" lang="en" sz="1200">
                <a:solidFill>
                  <a:schemeClr val="lt1"/>
                </a:solidFill>
              </a:rPr>
              <a:t>Features per film:</a:t>
            </a:r>
            <a:r>
              <a:rPr lang="en" sz="1200">
                <a:solidFill>
                  <a:schemeClr val="lt1"/>
                </a:solidFill>
              </a:rPr>
              <a:t> origin, release year, runtime, and 19 genres.</a:t>
            </a:r>
            <a:endParaRPr sz="1200">
              <a:solidFill>
                <a:schemeClr val="lt1"/>
              </a:solidFill>
            </a:endParaRPr>
          </a:p>
          <a:p>
            <a:pPr indent="-304800" lvl="0" marL="457200" rtl="0" algn="l">
              <a:spcBef>
                <a:spcPts val="0"/>
              </a:spcBef>
              <a:spcAft>
                <a:spcPts val="0"/>
              </a:spcAft>
              <a:buClr>
                <a:schemeClr val="lt1"/>
              </a:buClr>
              <a:buSzPts val="1200"/>
              <a:buChar char="●"/>
            </a:pPr>
            <a:r>
              <a:rPr b="1" lang="en" sz="1200">
                <a:solidFill>
                  <a:schemeClr val="lt1"/>
                </a:solidFill>
              </a:rPr>
              <a:t>Origin groups:</a:t>
            </a:r>
            <a:r>
              <a:rPr lang="en" sz="1200">
                <a:solidFill>
                  <a:schemeClr val="lt1"/>
                </a:solidFill>
              </a:rPr>
              <a:t> US only (35%), US co-production (11%), non-US (54%). "American" means US production, not an American story.</a:t>
            </a:r>
            <a:endParaRPr sz="1200">
              <a:solidFill>
                <a:schemeClr val="lt1"/>
              </a:solidFill>
            </a:endParaRPr>
          </a:p>
          <a:p>
            <a:pPr indent="-304800" lvl="0" marL="457200" rtl="0" algn="l">
              <a:spcBef>
                <a:spcPts val="0"/>
              </a:spcBef>
              <a:spcAft>
                <a:spcPts val="0"/>
              </a:spcAft>
              <a:buClr>
                <a:schemeClr val="lt1"/>
              </a:buClr>
              <a:buSzPts val="1200"/>
              <a:buChar char="●"/>
            </a:pPr>
            <a:r>
              <a:rPr b="1" lang="en" sz="1200">
                <a:solidFill>
                  <a:schemeClr val="lt1"/>
                </a:solidFill>
              </a:rPr>
              <a:t>Cleaning:</a:t>
            </a:r>
            <a:r>
              <a:rPr lang="en" sz="1200">
                <a:solidFill>
                  <a:schemeClr val="lt1"/>
                </a:solidFill>
              </a:rPr>
              <a:t> runtimes clipped at 400 minutes (max was 51,420) and log-transformed, years limited to 1900 to 2025, missing runtimes imputed with the median.</a:t>
            </a:r>
            <a:endParaRPr sz="1200">
              <a:solidFill>
                <a:schemeClr val="lt1"/>
              </a:solidFill>
            </a:endParaRPr>
          </a:p>
          <a:p>
            <a:pPr indent="0" lvl="0" marL="0" rtl="0" algn="l">
              <a:spcBef>
                <a:spcPts val="900"/>
              </a:spcBef>
              <a:spcAft>
                <a:spcPts val="1200"/>
              </a:spcAft>
              <a:buNone/>
            </a:pPr>
            <a:r>
              <a:t/>
            </a:r>
            <a:endParaRPr sz="1200">
              <a:solidFill>
                <a:schemeClr val="dk1"/>
              </a:solidFill>
            </a:endParaRPr>
          </a:p>
        </p:txBody>
      </p:sp>
      <p:pic>
        <p:nvPicPr>
          <p:cNvPr id="69" name="Google Shape;69;p15"/>
          <p:cNvPicPr preferRelativeResize="0"/>
          <p:nvPr/>
        </p:nvPicPr>
        <p:blipFill>
          <a:blip r:embed="rId3">
            <a:alphaModFix/>
          </a:blip>
          <a:stretch>
            <a:fillRect/>
          </a:stretch>
        </p:blipFill>
        <p:spPr>
          <a:xfrm rot="-5400000">
            <a:off x="5350526" y="414550"/>
            <a:ext cx="2356050" cy="30399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990"/>
              <a:buFont typeface="Arial"/>
              <a:buNone/>
            </a:pPr>
            <a:r>
              <a:rPr b="1" lang="en" sz="1830">
                <a:solidFill>
                  <a:schemeClr val="lt1"/>
                </a:solidFill>
                <a:latin typeface="Georgia"/>
                <a:ea typeface="Georgia"/>
                <a:cs typeface="Georgia"/>
                <a:sym typeface="Georgia"/>
              </a:rPr>
              <a:t>Group comparison: descriptive statistics</a:t>
            </a:r>
            <a:endParaRPr b="1" sz="1830">
              <a:solidFill>
                <a:schemeClr val="lt1"/>
              </a:solidFill>
              <a:latin typeface="Georgia"/>
              <a:ea typeface="Georgia"/>
              <a:cs typeface="Georgia"/>
              <a:sym typeface="Georgia"/>
            </a:endParaRPr>
          </a:p>
          <a:p>
            <a:pPr indent="0" lvl="0" marL="0" rtl="0" algn="l">
              <a:spcBef>
                <a:spcPts val="900"/>
              </a:spcBef>
              <a:spcAft>
                <a:spcPts val="0"/>
              </a:spcAft>
              <a:buSzPts val="990"/>
              <a:buNone/>
            </a:pPr>
            <a:r>
              <a:t/>
            </a:r>
            <a:endParaRPr sz="2520"/>
          </a:p>
        </p:txBody>
      </p:sp>
      <p:sp>
        <p:nvSpPr>
          <p:cNvPr id="75" name="Google Shape;75;p16"/>
          <p:cNvSpPr txBox="1"/>
          <p:nvPr>
            <p:ph idx="1" type="body"/>
          </p:nvPr>
        </p:nvSpPr>
        <p:spPr>
          <a:xfrm>
            <a:off x="5930050" y="1094683"/>
            <a:ext cx="2902200" cy="3416400"/>
          </a:xfrm>
          <a:prstGeom prst="rect">
            <a:avLst/>
          </a:prstGeom>
        </p:spPr>
        <p:txBody>
          <a:bodyPr anchorCtr="0" anchor="t" bIns="91425" lIns="91425" spcFirstLastPara="1" rIns="91425" wrap="square" tIns="91425">
            <a:noAutofit/>
          </a:bodyPr>
          <a:lstStyle/>
          <a:p>
            <a:pPr indent="0" lvl="0" marL="152400" marR="152400" rtl="0" algn="l">
              <a:lnSpc>
                <a:spcPct val="95000"/>
              </a:lnSpc>
              <a:spcBef>
                <a:spcPts val="0"/>
              </a:spcBef>
              <a:spcAft>
                <a:spcPts val="0"/>
              </a:spcAft>
              <a:buClr>
                <a:schemeClr val="dk1"/>
              </a:buClr>
              <a:buSzPts val="1018"/>
              <a:buFont typeface="Arial"/>
              <a:buNone/>
            </a:pPr>
            <a:r>
              <a:rPr b="1" lang="en" sz="1210">
                <a:solidFill>
                  <a:schemeClr val="lt1"/>
                </a:solidFill>
              </a:rPr>
              <a:t>Pattern</a:t>
            </a:r>
            <a:endParaRPr b="1" sz="1210">
              <a:solidFill>
                <a:schemeClr val="lt1"/>
              </a:solidFill>
            </a:endParaRPr>
          </a:p>
          <a:p>
            <a:pPr indent="0" lvl="0" marL="152400" marR="152400" rtl="0" algn="l">
              <a:lnSpc>
                <a:spcPct val="95000"/>
              </a:lnSpc>
              <a:spcBef>
                <a:spcPts val="200"/>
              </a:spcBef>
              <a:spcAft>
                <a:spcPts val="0"/>
              </a:spcAft>
              <a:buSzPts val="1018"/>
              <a:buNone/>
            </a:pPr>
            <a:r>
              <a:rPr lang="en" sz="1210">
                <a:solidFill>
                  <a:schemeClr val="lt1"/>
                </a:solidFill>
              </a:rPr>
              <a:t>The mean difference grows from US only (-0.16) to co-productions (-0.20), and medians follow the same order. The standard deviation rises with US involvement. US only vs non-US gives a Cohen's d of about 0.4, a small-to-moderate effect size.</a:t>
            </a:r>
            <a:endParaRPr sz="1210">
              <a:solidFill>
                <a:schemeClr val="lt1"/>
              </a:solidFill>
            </a:endParaRPr>
          </a:p>
          <a:p>
            <a:pPr indent="0" lvl="0" marL="152400" marR="152400" rtl="0" algn="l">
              <a:lnSpc>
                <a:spcPct val="95000"/>
              </a:lnSpc>
              <a:spcBef>
                <a:spcPts val="0"/>
              </a:spcBef>
              <a:spcAft>
                <a:spcPts val="0"/>
              </a:spcAft>
              <a:buSzPts val="1018"/>
              <a:buNone/>
            </a:pPr>
            <a:r>
              <a:t/>
            </a:r>
            <a:endParaRPr sz="1210">
              <a:solidFill>
                <a:schemeClr val="lt1"/>
              </a:solidFill>
            </a:endParaRPr>
          </a:p>
          <a:p>
            <a:pPr indent="0" lvl="0" marL="152400" marR="152400" rtl="0" algn="l">
              <a:lnSpc>
                <a:spcPct val="95000"/>
              </a:lnSpc>
              <a:spcBef>
                <a:spcPts val="0"/>
              </a:spcBef>
              <a:spcAft>
                <a:spcPts val="0"/>
              </a:spcAft>
              <a:buClr>
                <a:schemeClr val="dk1"/>
              </a:buClr>
              <a:buSzPts val="1018"/>
              <a:buFont typeface="Arial"/>
              <a:buNone/>
            </a:pPr>
            <a:r>
              <a:t/>
            </a:r>
            <a:endParaRPr sz="1210">
              <a:solidFill>
                <a:schemeClr val="lt1"/>
              </a:solidFill>
            </a:endParaRPr>
          </a:p>
          <a:p>
            <a:pPr indent="0" lvl="0" marL="152400" marR="152400" rtl="0" algn="l">
              <a:lnSpc>
                <a:spcPct val="95000"/>
              </a:lnSpc>
              <a:spcBef>
                <a:spcPts val="0"/>
              </a:spcBef>
              <a:spcAft>
                <a:spcPts val="0"/>
              </a:spcAft>
              <a:buClr>
                <a:schemeClr val="dk1"/>
              </a:buClr>
              <a:buSzPts val="1018"/>
              <a:buFont typeface="Arial"/>
              <a:buNone/>
            </a:pPr>
            <a:r>
              <a:rPr b="1" lang="en" sz="1210">
                <a:solidFill>
                  <a:schemeClr val="lt1"/>
                </a:solidFill>
              </a:rPr>
              <a:t>What it means</a:t>
            </a:r>
            <a:endParaRPr b="1" sz="1210">
              <a:solidFill>
                <a:schemeClr val="lt1"/>
              </a:solidFill>
            </a:endParaRPr>
          </a:p>
          <a:p>
            <a:pPr indent="0" lvl="0" marL="152400" marR="152400" rtl="0" algn="l">
              <a:lnSpc>
                <a:spcPct val="95000"/>
              </a:lnSpc>
              <a:spcBef>
                <a:spcPts val="200"/>
              </a:spcBef>
              <a:spcAft>
                <a:spcPts val="0"/>
              </a:spcAft>
              <a:buClr>
                <a:schemeClr val="dk1"/>
              </a:buClr>
              <a:buSzPts val="1018"/>
              <a:buFont typeface="Arial"/>
              <a:buNone/>
            </a:pPr>
            <a:r>
              <a:rPr lang="en" sz="1210">
                <a:solidFill>
                  <a:schemeClr val="lt1"/>
                </a:solidFill>
              </a:rPr>
              <a:t>Co-productions are not "in between": they rate lowest. They lean toward Thriller, Action, and Adventure, so a mix of commercial genres may be part of why. A larger standard deviation means US films have more very high and very low ratings.</a:t>
            </a:r>
            <a:endParaRPr sz="1210">
              <a:solidFill>
                <a:schemeClr val="lt1"/>
              </a:solidFill>
            </a:endParaRPr>
          </a:p>
          <a:p>
            <a:pPr indent="0" lvl="0" marL="0" rtl="0" algn="l">
              <a:lnSpc>
                <a:spcPct val="95000"/>
              </a:lnSpc>
              <a:spcBef>
                <a:spcPts val="0"/>
              </a:spcBef>
              <a:spcAft>
                <a:spcPts val="1200"/>
              </a:spcAft>
              <a:buSzPts val="1018"/>
              <a:buNone/>
            </a:pPr>
            <a:r>
              <a:t/>
            </a:r>
            <a:endParaRPr sz="1110"/>
          </a:p>
        </p:txBody>
      </p:sp>
      <p:pic>
        <p:nvPicPr>
          <p:cNvPr id="76" name="Google Shape;76;p16" title="Screenshot 2026-10-08 at 11.56.11 AM.png"/>
          <p:cNvPicPr preferRelativeResize="0"/>
          <p:nvPr/>
        </p:nvPicPr>
        <p:blipFill>
          <a:blip r:embed="rId3">
            <a:alphaModFix/>
          </a:blip>
          <a:stretch>
            <a:fillRect/>
          </a:stretch>
        </p:blipFill>
        <p:spPr>
          <a:xfrm>
            <a:off x="311700" y="1152473"/>
            <a:ext cx="5393901" cy="1342475"/>
          </a:xfrm>
          <a:prstGeom prst="rect">
            <a:avLst/>
          </a:prstGeom>
          <a:noFill/>
          <a:ln>
            <a:noFill/>
          </a:ln>
        </p:spPr>
      </p:pic>
      <p:pic>
        <p:nvPicPr>
          <p:cNvPr id="77" name="Google Shape;77;p16"/>
          <p:cNvPicPr preferRelativeResize="0"/>
          <p:nvPr/>
        </p:nvPicPr>
        <p:blipFill>
          <a:blip r:embed="rId4">
            <a:alphaModFix/>
          </a:blip>
          <a:stretch>
            <a:fillRect/>
          </a:stretch>
        </p:blipFill>
        <p:spPr>
          <a:xfrm>
            <a:off x="311700" y="2629698"/>
            <a:ext cx="1927427" cy="2343752"/>
          </a:xfrm>
          <a:prstGeom prst="rect">
            <a:avLst/>
          </a:prstGeom>
          <a:noFill/>
          <a:ln>
            <a:noFill/>
          </a:ln>
        </p:spPr>
      </p:pic>
      <p:pic>
        <p:nvPicPr>
          <p:cNvPr id="78" name="Google Shape;78;p16"/>
          <p:cNvPicPr preferRelativeResize="0"/>
          <p:nvPr/>
        </p:nvPicPr>
        <p:blipFill>
          <a:blip r:embed="rId5">
            <a:alphaModFix/>
          </a:blip>
          <a:stretch>
            <a:fillRect/>
          </a:stretch>
        </p:blipFill>
        <p:spPr>
          <a:xfrm>
            <a:off x="2391527" y="2647348"/>
            <a:ext cx="3079382" cy="23437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0"/>
              </a:spcBef>
              <a:spcAft>
                <a:spcPts val="0"/>
              </a:spcAft>
              <a:buClr>
                <a:schemeClr val="dk1"/>
              </a:buClr>
              <a:buSzPct val="54098"/>
              <a:buFont typeface="Arial"/>
              <a:buNone/>
            </a:pPr>
            <a:r>
              <a:rPr b="1" lang="en" sz="2033">
                <a:solidFill>
                  <a:schemeClr val="lt1"/>
                </a:solidFill>
                <a:latin typeface="Georgia"/>
                <a:ea typeface="Georgia"/>
                <a:cs typeface="Georgia"/>
                <a:sym typeface="Georgia"/>
              </a:rPr>
              <a:t>Pattern 1: non-US films rate higher in every era</a:t>
            </a:r>
            <a:endParaRPr b="1" sz="2033">
              <a:solidFill>
                <a:schemeClr val="lt1"/>
              </a:solidFill>
              <a:latin typeface="Georgia"/>
              <a:ea typeface="Georgia"/>
              <a:cs typeface="Georgia"/>
              <a:sym typeface="Georgia"/>
            </a:endParaRPr>
          </a:p>
          <a:p>
            <a:pPr indent="0" lvl="0" marL="0" rtl="0" algn="l">
              <a:lnSpc>
                <a:spcPct val="115000"/>
              </a:lnSpc>
              <a:spcBef>
                <a:spcPts val="900"/>
              </a:spcBef>
              <a:spcAft>
                <a:spcPts val="0"/>
              </a:spcAft>
              <a:buClr>
                <a:schemeClr val="dk1"/>
              </a:buClr>
              <a:buSzPct val="122222"/>
              <a:buFont typeface="Arial"/>
              <a:buNone/>
            </a:pPr>
            <a:r>
              <a:t/>
            </a:r>
            <a:endParaRPr sz="900"/>
          </a:p>
          <a:p>
            <a:pPr indent="0" lvl="0" marL="0" rtl="0" algn="l">
              <a:lnSpc>
                <a:spcPct val="115000"/>
              </a:lnSpc>
              <a:spcBef>
                <a:spcPts val="5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84" name="Google Shape;84;p17"/>
          <p:cNvSpPr txBox="1"/>
          <p:nvPr>
            <p:ph idx="1" type="body"/>
          </p:nvPr>
        </p:nvSpPr>
        <p:spPr>
          <a:xfrm>
            <a:off x="4975575" y="1152475"/>
            <a:ext cx="3856800" cy="1207200"/>
          </a:xfrm>
          <a:prstGeom prst="rect">
            <a:avLst/>
          </a:prstGeom>
        </p:spPr>
        <p:txBody>
          <a:bodyPr anchorCtr="0" anchor="t" bIns="91425" lIns="91425" spcFirstLastPara="1" rIns="91425" wrap="square" tIns="91425">
            <a:normAutofit fontScale="85000" lnSpcReduction="20000"/>
          </a:bodyPr>
          <a:lstStyle/>
          <a:p>
            <a:pPr indent="0" lvl="0" marL="152400" marR="152400" rtl="0" algn="l">
              <a:spcBef>
                <a:spcPts val="0"/>
              </a:spcBef>
              <a:spcAft>
                <a:spcPts val="0"/>
              </a:spcAft>
              <a:buClr>
                <a:schemeClr val="dk1"/>
              </a:buClr>
              <a:buSzPct val="76640"/>
              <a:buFont typeface="Arial"/>
              <a:buNone/>
            </a:pPr>
            <a:r>
              <a:rPr b="1" lang="en" sz="1435">
                <a:solidFill>
                  <a:schemeClr val="lt1"/>
                </a:solidFill>
              </a:rPr>
              <a:t>Pattern</a:t>
            </a:r>
            <a:endParaRPr b="1" sz="1435">
              <a:solidFill>
                <a:schemeClr val="lt1"/>
              </a:solidFill>
            </a:endParaRPr>
          </a:p>
          <a:p>
            <a:pPr indent="0" lvl="0" marL="152400" marR="152400" rtl="0" algn="l">
              <a:spcBef>
                <a:spcPts val="200"/>
              </a:spcBef>
              <a:spcAft>
                <a:spcPts val="0"/>
              </a:spcAft>
              <a:buNone/>
            </a:pPr>
            <a:r>
              <a:rPr lang="en" sz="1426">
                <a:solidFill>
                  <a:schemeClr val="lt1"/>
                </a:solidFill>
              </a:rPr>
              <a:t>The teal line is above the others in every decade, but the gap changes size: from about 0.12 to 0.31 stars depending on the decade.</a:t>
            </a:r>
            <a:endParaRPr sz="1426">
              <a:solidFill>
                <a:schemeClr val="lt1"/>
              </a:solidFill>
            </a:endParaRPr>
          </a:p>
          <a:p>
            <a:pPr indent="0" lvl="0" marL="152400" marR="152400" rtl="0" algn="l">
              <a:spcBef>
                <a:spcPts val="0"/>
              </a:spcBef>
              <a:spcAft>
                <a:spcPts val="0"/>
              </a:spcAft>
              <a:buNone/>
            </a:pPr>
            <a:r>
              <a:t/>
            </a:r>
            <a:endParaRPr sz="1200">
              <a:solidFill>
                <a:schemeClr val="lt1"/>
              </a:solidFill>
            </a:endParaRPr>
          </a:p>
          <a:p>
            <a:pPr indent="0" lvl="0" marL="0" rtl="0" algn="l">
              <a:spcBef>
                <a:spcPts val="0"/>
              </a:spcBef>
              <a:spcAft>
                <a:spcPts val="1200"/>
              </a:spcAft>
              <a:buNone/>
            </a:pPr>
            <a:r>
              <a:t/>
            </a:r>
            <a:endParaRPr sz="1200"/>
          </a:p>
        </p:txBody>
      </p:sp>
      <p:pic>
        <p:nvPicPr>
          <p:cNvPr id="85" name="Google Shape;85;p17" title="Screenshot 2026-10-08 at 11.56.50 AM.png"/>
          <p:cNvPicPr preferRelativeResize="0"/>
          <p:nvPr/>
        </p:nvPicPr>
        <p:blipFill>
          <a:blip r:embed="rId3">
            <a:alphaModFix/>
          </a:blip>
          <a:stretch>
            <a:fillRect/>
          </a:stretch>
        </p:blipFill>
        <p:spPr>
          <a:xfrm>
            <a:off x="311700" y="1152475"/>
            <a:ext cx="4350738" cy="2224125"/>
          </a:xfrm>
          <a:prstGeom prst="rect">
            <a:avLst/>
          </a:prstGeom>
          <a:noFill/>
          <a:ln>
            <a:noFill/>
          </a:ln>
        </p:spPr>
      </p:pic>
      <p:pic>
        <p:nvPicPr>
          <p:cNvPr id="86" name="Google Shape;86;p17" title="image-removebg-preview-5.png"/>
          <p:cNvPicPr preferRelativeResize="0"/>
          <p:nvPr/>
        </p:nvPicPr>
        <p:blipFill>
          <a:blip r:embed="rId4">
            <a:alphaModFix/>
          </a:blip>
          <a:stretch>
            <a:fillRect/>
          </a:stretch>
        </p:blipFill>
        <p:spPr>
          <a:xfrm>
            <a:off x="0" y="3352950"/>
            <a:ext cx="3355400" cy="1790550"/>
          </a:xfrm>
          <a:prstGeom prst="rect">
            <a:avLst/>
          </a:prstGeom>
          <a:noFill/>
          <a:ln>
            <a:noFill/>
          </a:ln>
        </p:spPr>
      </p:pic>
      <p:sp>
        <p:nvSpPr>
          <p:cNvPr id="87" name="Google Shape;87;p17"/>
          <p:cNvSpPr txBox="1"/>
          <p:nvPr/>
        </p:nvSpPr>
        <p:spPr>
          <a:xfrm>
            <a:off x="3355400" y="3413468"/>
            <a:ext cx="3000000" cy="1669500"/>
          </a:xfrm>
          <a:prstGeom prst="rect">
            <a:avLst/>
          </a:prstGeom>
          <a:noFill/>
          <a:ln>
            <a:noFill/>
          </a:ln>
        </p:spPr>
        <p:txBody>
          <a:bodyPr anchorCtr="0" anchor="t" bIns="91425" lIns="91425" spcFirstLastPara="1" rIns="91425" wrap="square" tIns="91425">
            <a:spAutoFit/>
          </a:bodyPr>
          <a:lstStyle/>
          <a:p>
            <a:pPr indent="0" lvl="0" marL="152400" marR="152400" rtl="0" algn="l">
              <a:lnSpc>
                <a:spcPct val="115000"/>
              </a:lnSpc>
              <a:spcBef>
                <a:spcPts val="0"/>
              </a:spcBef>
              <a:spcAft>
                <a:spcPts val="0"/>
              </a:spcAft>
              <a:buNone/>
            </a:pPr>
            <a:r>
              <a:rPr b="1" lang="en" sz="1200">
                <a:solidFill>
                  <a:schemeClr val="lt1"/>
                </a:solidFill>
              </a:rPr>
              <a:t>What it means</a:t>
            </a:r>
            <a:endParaRPr b="1" sz="1200">
              <a:solidFill>
                <a:schemeClr val="lt1"/>
              </a:solidFill>
            </a:endParaRPr>
          </a:p>
          <a:p>
            <a:pPr indent="0" lvl="0" marL="152400" marR="152400" rtl="0" algn="l">
              <a:lnSpc>
                <a:spcPct val="115000"/>
              </a:lnSpc>
              <a:spcBef>
                <a:spcPts val="200"/>
              </a:spcBef>
              <a:spcAft>
                <a:spcPts val="0"/>
              </a:spcAft>
              <a:buNone/>
            </a:pPr>
            <a:r>
              <a:rPr lang="en" sz="1200">
                <a:solidFill>
                  <a:schemeClr val="lt1"/>
                </a:solidFill>
              </a:rPr>
              <a:t>The direction never changes, but the size does (next slide). All lines fall over time, likely because old films still rated are survivors while recent decades include many obscure releases.</a:t>
            </a:r>
            <a:endParaRPr sz="1200">
              <a:solidFill>
                <a:schemeClr val="lt1"/>
              </a:solidFill>
            </a:endParaRPr>
          </a:p>
        </p:txBody>
      </p:sp>
      <p:pic>
        <p:nvPicPr>
          <p:cNvPr id="88" name="Google Shape;88;p17"/>
          <p:cNvPicPr preferRelativeResize="0"/>
          <p:nvPr/>
        </p:nvPicPr>
        <p:blipFill>
          <a:blip r:embed="rId5">
            <a:alphaModFix/>
          </a:blip>
          <a:stretch>
            <a:fillRect/>
          </a:stretch>
        </p:blipFill>
        <p:spPr>
          <a:xfrm>
            <a:off x="6315050" y="2311450"/>
            <a:ext cx="2584676" cy="2588200"/>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8" title="Screenshot 2026-10-08 at 11.57.59 AM.png"/>
          <p:cNvPicPr preferRelativeResize="0"/>
          <p:nvPr/>
        </p:nvPicPr>
        <p:blipFill>
          <a:blip r:embed="rId3">
            <a:alphaModFix/>
          </a:blip>
          <a:stretch>
            <a:fillRect/>
          </a:stretch>
        </p:blipFill>
        <p:spPr>
          <a:xfrm>
            <a:off x="311702" y="1152475"/>
            <a:ext cx="5224452" cy="3477725"/>
          </a:xfrm>
          <a:prstGeom prst="rect">
            <a:avLst/>
          </a:prstGeom>
          <a:noFill/>
          <a:ln>
            <a:noFill/>
          </a:ln>
        </p:spPr>
      </p:pic>
      <p:sp>
        <p:nvSpPr>
          <p:cNvPr id="94" name="Google Shape;94;p18"/>
          <p:cNvSpPr txBox="1"/>
          <p:nvPr>
            <p:ph type="title"/>
          </p:nvPr>
        </p:nvSpPr>
        <p:spPr>
          <a:xfrm>
            <a:off x="311700" y="333400"/>
            <a:ext cx="6303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b="1" lang="en" sz="2000">
                <a:solidFill>
                  <a:schemeClr val="lt1"/>
                </a:solidFill>
                <a:latin typeface="Georgia"/>
                <a:ea typeface="Georgia"/>
                <a:cs typeface="Georgia"/>
                <a:sym typeface="Georgia"/>
              </a:rPr>
              <a:t>Mean rating by decade and origin</a:t>
            </a:r>
            <a:endParaRPr b="1" sz="2000">
              <a:solidFill>
                <a:schemeClr val="lt1"/>
              </a:solidFill>
              <a:latin typeface="Georgia"/>
              <a:ea typeface="Georgia"/>
              <a:cs typeface="Georgia"/>
              <a:sym typeface="Georgia"/>
            </a:endParaRPr>
          </a:p>
          <a:p>
            <a:pPr indent="0" lvl="0" marL="0" rtl="0" algn="l">
              <a:spcBef>
                <a:spcPts val="0"/>
              </a:spcBef>
              <a:spcAft>
                <a:spcPts val="0"/>
              </a:spcAft>
              <a:buNone/>
            </a:pPr>
            <a:r>
              <a:t/>
            </a:r>
            <a:endParaRPr/>
          </a:p>
        </p:txBody>
      </p:sp>
      <p:sp>
        <p:nvSpPr>
          <p:cNvPr id="95" name="Google Shape;95;p18"/>
          <p:cNvSpPr txBox="1"/>
          <p:nvPr>
            <p:ph idx="1" type="body"/>
          </p:nvPr>
        </p:nvSpPr>
        <p:spPr>
          <a:xfrm>
            <a:off x="5656075" y="1152475"/>
            <a:ext cx="3176100" cy="3416400"/>
          </a:xfrm>
          <a:prstGeom prst="rect">
            <a:avLst/>
          </a:prstGeom>
        </p:spPr>
        <p:txBody>
          <a:bodyPr anchorCtr="0" anchor="t" bIns="91425" lIns="91425" spcFirstLastPara="1" rIns="91425" wrap="square" tIns="91425">
            <a:normAutofit lnSpcReduction="10000"/>
          </a:bodyPr>
          <a:lstStyle/>
          <a:p>
            <a:pPr indent="0" lvl="0" marL="152400" marR="152400" rtl="0" algn="l">
              <a:spcBef>
                <a:spcPts val="0"/>
              </a:spcBef>
              <a:spcAft>
                <a:spcPts val="0"/>
              </a:spcAft>
              <a:buClr>
                <a:schemeClr val="dk1"/>
              </a:buClr>
              <a:buSzPts val="1100"/>
              <a:buFont typeface="Arial"/>
              <a:buNone/>
            </a:pPr>
            <a:r>
              <a:rPr b="1" lang="en" sz="1200">
                <a:solidFill>
                  <a:schemeClr val="lt1"/>
                </a:solidFill>
              </a:rPr>
              <a:t>Pattern</a:t>
            </a:r>
            <a:endParaRPr b="1" sz="1200">
              <a:solidFill>
                <a:schemeClr val="lt1"/>
              </a:solidFill>
            </a:endParaRPr>
          </a:p>
          <a:p>
            <a:pPr indent="0" lvl="0" marL="152400" marR="152400" rtl="0" algn="l">
              <a:spcBef>
                <a:spcPts val="200"/>
              </a:spcBef>
              <a:spcAft>
                <a:spcPts val="0"/>
              </a:spcAft>
              <a:buNone/>
            </a:pPr>
            <a:r>
              <a:rPr lang="en" sz="1200">
                <a:solidFill>
                  <a:schemeClr val="lt1"/>
                </a:solidFill>
              </a:rPr>
              <a:t>The gap grew from about 0.16 in the 1930s and 1940s to a peak of 0.28 to 0.31 in the 1980s and 1990s, then narrowed to 0.17 in the 2010s and 0.12 in the 2020s.</a:t>
            </a:r>
            <a:endParaRPr sz="1200">
              <a:solidFill>
                <a:schemeClr val="lt1"/>
              </a:solidFill>
            </a:endParaRPr>
          </a:p>
          <a:p>
            <a:pPr indent="0" lvl="0" marL="152400" marR="152400" rtl="0" algn="l">
              <a:spcBef>
                <a:spcPts val="0"/>
              </a:spcBef>
              <a:spcAft>
                <a:spcPts val="0"/>
              </a:spcAft>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rPr b="1" lang="en" sz="1200">
                <a:solidFill>
                  <a:schemeClr val="lt1"/>
                </a:solidFill>
              </a:rPr>
              <a:t>What it means</a:t>
            </a:r>
            <a:endParaRPr b="1" sz="1200">
              <a:solidFill>
                <a:schemeClr val="lt1"/>
              </a:solidFill>
            </a:endParaRPr>
          </a:p>
          <a:p>
            <a:pPr indent="0" lvl="0" marL="152400" marR="152400" rtl="0" algn="l">
              <a:spcBef>
                <a:spcPts val="200"/>
              </a:spcBef>
              <a:spcAft>
                <a:spcPts val="0"/>
              </a:spcAft>
              <a:buClr>
                <a:schemeClr val="dk1"/>
              </a:buClr>
              <a:buSzPts val="1100"/>
              <a:buFont typeface="Arial"/>
              <a:buNone/>
            </a:pPr>
            <a:r>
              <a:rPr lang="en" sz="1200">
                <a:solidFill>
                  <a:schemeClr val="lt1"/>
                </a:solidFill>
              </a:rPr>
              <a:t>I earlier described the gap as steady, and this table corrects that. Possible reasons, untested: Letterboxd's recent growth brings casual raters and more obscure non-US films. A year-by-origin interaction in the model would test it.</a:t>
            </a:r>
            <a:endParaRPr sz="1200">
              <a:solidFill>
                <a:schemeClr val="lt1"/>
              </a:solidFill>
            </a:endParaRPr>
          </a:p>
          <a:p>
            <a:pPr indent="0" lvl="0" marL="0" rtl="0" algn="l">
              <a:spcBef>
                <a:spcPts val="0"/>
              </a:spcBef>
              <a:spcAft>
                <a:spcPts val="1200"/>
              </a:spcAft>
              <a:buNone/>
            </a:pPr>
            <a:r>
              <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39090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0"/>
              </a:spcBef>
              <a:spcAft>
                <a:spcPts val="0"/>
              </a:spcAft>
              <a:buClr>
                <a:schemeClr val="dk1"/>
              </a:buClr>
              <a:buSzPct val="54098"/>
              <a:buFont typeface="Arial"/>
              <a:buNone/>
            </a:pPr>
            <a:r>
              <a:rPr b="1" lang="en" sz="2033">
                <a:solidFill>
                  <a:schemeClr val="lt1"/>
                </a:solidFill>
                <a:latin typeface="Georgia"/>
                <a:ea typeface="Georgia"/>
                <a:cs typeface="Georgia"/>
                <a:sym typeface="Georgia"/>
              </a:rPr>
              <a:t>Pattern 2: US films spread across more genres</a:t>
            </a:r>
            <a:endParaRPr b="1" sz="2033">
              <a:solidFill>
                <a:schemeClr val="lt1"/>
              </a:solidFill>
              <a:latin typeface="Georgia"/>
              <a:ea typeface="Georgia"/>
              <a:cs typeface="Georgia"/>
              <a:sym typeface="Georgia"/>
            </a:endParaRPr>
          </a:p>
          <a:p>
            <a:pPr indent="0" lvl="0" marL="0" rtl="0" algn="l">
              <a:lnSpc>
                <a:spcPct val="115000"/>
              </a:lnSpc>
              <a:spcBef>
                <a:spcPts val="900"/>
              </a:spcBef>
              <a:spcAft>
                <a:spcPts val="0"/>
              </a:spcAft>
              <a:buClr>
                <a:schemeClr val="dk1"/>
              </a:buClr>
              <a:buSzPct val="122222"/>
              <a:buFont typeface="Arial"/>
              <a:buNone/>
            </a:pPr>
            <a:r>
              <a:t/>
            </a:r>
            <a:endParaRPr sz="900"/>
          </a:p>
          <a:p>
            <a:pPr indent="0" lvl="0" marL="0" rtl="0" algn="l">
              <a:lnSpc>
                <a:spcPct val="115000"/>
              </a:lnSpc>
              <a:spcBef>
                <a:spcPts val="5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101" name="Google Shape;101;p19"/>
          <p:cNvSpPr txBox="1"/>
          <p:nvPr>
            <p:ph idx="1" type="body"/>
          </p:nvPr>
        </p:nvSpPr>
        <p:spPr>
          <a:xfrm>
            <a:off x="5567700" y="1152475"/>
            <a:ext cx="3264600" cy="3416400"/>
          </a:xfrm>
          <a:prstGeom prst="rect">
            <a:avLst/>
          </a:prstGeom>
        </p:spPr>
        <p:txBody>
          <a:bodyPr anchorCtr="0" anchor="t" bIns="91425" lIns="91425" spcFirstLastPara="1" rIns="91425" wrap="square" tIns="91425">
            <a:normAutofit/>
          </a:bodyPr>
          <a:lstStyle/>
          <a:p>
            <a:pPr indent="0" lvl="0" marL="152400" marR="152400" rtl="0" algn="l">
              <a:spcBef>
                <a:spcPts val="0"/>
              </a:spcBef>
              <a:spcAft>
                <a:spcPts val="0"/>
              </a:spcAft>
              <a:buClr>
                <a:schemeClr val="dk1"/>
              </a:buClr>
              <a:buSzPts val="1100"/>
              <a:buFont typeface="Arial"/>
              <a:buNone/>
            </a:pPr>
            <a:r>
              <a:rPr b="1" lang="en" sz="1200">
                <a:solidFill>
                  <a:schemeClr val="lt1"/>
                </a:solidFill>
              </a:rPr>
              <a:t>Pattern</a:t>
            </a:r>
            <a:endParaRPr b="1" sz="1200">
              <a:solidFill>
                <a:schemeClr val="lt1"/>
              </a:solidFill>
            </a:endParaRPr>
          </a:p>
          <a:p>
            <a:pPr indent="0" lvl="0" marL="152400" marR="152400" rtl="0" algn="l">
              <a:spcBef>
                <a:spcPts val="200"/>
              </a:spcBef>
              <a:spcAft>
                <a:spcPts val="0"/>
              </a:spcAft>
              <a:buNone/>
            </a:pPr>
            <a:r>
              <a:rPr lang="en" sz="1200">
                <a:solidFill>
                  <a:schemeClr val="lt1"/>
                </a:solidFill>
              </a:rPr>
              <a:t>Drama is 52% of non-US films vs 32% of US-only films. US films have more comedy, horror, family, and science fiction.</a:t>
            </a:r>
            <a:endParaRPr sz="1200">
              <a:solidFill>
                <a:schemeClr val="lt1"/>
              </a:solidFill>
            </a:endParaRPr>
          </a:p>
          <a:p>
            <a:pPr indent="0" lvl="0" marL="152400" marR="152400" rtl="0" algn="l">
              <a:spcBef>
                <a:spcPts val="0"/>
              </a:spcBef>
              <a:spcAft>
                <a:spcPts val="0"/>
              </a:spcAft>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rPr b="1" lang="en" sz="1200">
                <a:solidFill>
                  <a:schemeClr val="lt1"/>
                </a:solidFill>
              </a:rPr>
              <a:t>What it means</a:t>
            </a:r>
            <a:endParaRPr b="1" sz="1200">
              <a:solidFill>
                <a:schemeClr val="lt1"/>
              </a:solidFill>
            </a:endParaRPr>
          </a:p>
          <a:p>
            <a:pPr indent="0" lvl="0" marL="152400" marR="152400" rtl="0" algn="l">
              <a:spcBef>
                <a:spcPts val="200"/>
              </a:spcBef>
              <a:spcAft>
                <a:spcPts val="0"/>
              </a:spcAft>
              <a:buClr>
                <a:schemeClr val="dk1"/>
              </a:buClr>
              <a:buSzPts val="1100"/>
              <a:buFont typeface="Arial"/>
              <a:buNone/>
            </a:pPr>
            <a:r>
              <a:rPr lang="en" sz="1200">
                <a:solidFill>
                  <a:schemeClr val="lt1"/>
                </a:solidFill>
              </a:rPr>
              <a:t>US films cluster in genres with larger gaps, so genre could have explained the whole difference. We tested that, and it did not.</a:t>
            </a:r>
            <a:endParaRPr sz="1200">
              <a:solidFill>
                <a:schemeClr val="lt1"/>
              </a:solidFill>
            </a:endParaRPr>
          </a:p>
          <a:p>
            <a:pPr indent="0" lvl="0" marL="0" rtl="0" algn="l">
              <a:spcBef>
                <a:spcPts val="0"/>
              </a:spcBef>
              <a:spcAft>
                <a:spcPts val="1200"/>
              </a:spcAft>
              <a:buNone/>
            </a:pPr>
            <a:r>
              <a:t/>
            </a:r>
            <a:endParaRPr sz="1200">
              <a:solidFill>
                <a:schemeClr val="lt1"/>
              </a:solidFill>
            </a:endParaRPr>
          </a:p>
        </p:txBody>
      </p:sp>
      <p:pic>
        <p:nvPicPr>
          <p:cNvPr id="102" name="Google Shape;102;p19" title="Screenshot 2026-10-08 at 11.58.54 AM.png"/>
          <p:cNvPicPr preferRelativeResize="0"/>
          <p:nvPr/>
        </p:nvPicPr>
        <p:blipFill>
          <a:blip r:embed="rId3">
            <a:alphaModFix/>
          </a:blip>
          <a:stretch>
            <a:fillRect/>
          </a:stretch>
        </p:blipFill>
        <p:spPr>
          <a:xfrm>
            <a:off x="311700" y="1152474"/>
            <a:ext cx="5172950" cy="2725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6547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0"/>
              </a:spcBef>
              <a:spcAft>
                <a:spcPts val="0"/>
              </a:spcAft>
              <a:buClr>
                <a:schemeClr val="dk1"/>
              </a:buClr>
              <a:buSzPct val="54098"/>
              <a:buFont typeface="Arial"/>
              <a:buNone/>
            </a:pPr>
            <a:r>
              <a:rPr b="1" lang="en" sz="2033">
                <a:solidFill>
                  <a:schemeClr val="lt1"/>
                </a:solidFill>
                <a:latin typeface="Georgia"/>
                <a:ea typeface="Georgia"/>
                <a:cs typeface="Georgia"/>
                <a:sym typeface="Georgia"/>
              </a:rPr>
              <a:t>Pattern 3: the gap shows up in all 19 genres</a:t>
            </a:r>
            <a:endParaRPr b="1" sz="2033">
              <a:solidFill>
                <a:schemeClr val="lt1"/>
              </a:solidFill>
              <a:latin typeface="Georgia"/>
              <a:ea typeface="Georgia"/>
              <a:cs typeface="Georgia"/>
              <a:sym typeface="Georgia"/>
            </a:endParaRPr>
          </a:p>
          <a:p>
            <a:pPr indent="0" lvl="0" marL="0" rtl="0" algn="l">
              <a:lnSpc>
                <a:spcPct val="115000"/>
              </a:lnSpc>
              <a:spcBef>
                <a:spcPts val="900"/>
              </a:spcBef>
              <a:spcAft>
                <a:spcPts val="0"/>
              </a:spcAft>
              <a:buClr>
                <a:schemeClr val="dk1"/>
              </a:buClr>
              <a:buSzPct val="129412"/>
              <a:buFont typeface="Arial"/>
              <a:buNone/>
            </a:pPr>
            <a:r>
              <a:t/>
            </a:r>
            <a:endParaRPr sz="850">
              <a:solidFill>
                <a:schemeClr val="lt1"/>
              </a:solidFill>
            </a:endParaRPr>
          </a:p>
          <a:p>
            <a:pPr indent="0" lvl="0" marL="0" rtl="0" algn="l">
              <a:lnSpc>
                <a:spcPct val="115000"/>
              </a:lnSpc>
              <a:spcBef>
                <a:spcPts val="0"/>
              </a:spcBef>
              <a:spcAft>
                <a:spcPts val="0"/>
              </a:spcAft>
              <a:buClr>
                <a:schemeClr val="dk1"/>
              </a:buClr>
              <a:buSzPct val="100000"/>
              <a:buFont typeface="Arial"/>
              <a:buNone/>
            </a:pPr>
            <a:r>
              <a:t/>
            </a:r>
            <a:endParaRPr sz="1100">
              <a:solidFill>
                <a:schemeClr val="lt1"/>
              </a:solidFill>
            </a:endParaRPr>
          </a:p>
          <a:p>
            <a:pPr indent="0" lvl="0" marL="0" rtl="0" algn="l">
              <a:spcBef>
                <a:spcPts val="0"/>
              </a:spcBef>
              <a:spcAft>
                <a:spcPts val="0"/>
              </a:spcAft>
              <a:buNone/>
            </a:pPr>
            <a:r>
              <a:t/>
            </a:r>
            <a:endParaRPr>
              <a:solidFill>
                <a:schemeClr val="lt1"/>
              </a:solidFill>
            </a:endParaRPr>
          </a:p>
        </p:txBody>
      </p:sp>
      <p:sp>
        <p:nvSpPr>
          <p:cNvPr id="108" name="Google Shape;108;p20"/>
          <p:cNvSpPr txBox="1"/>
          <p:nvPr>
            <p:ph idx="1" type="body"/>
          </p:nvPr>
        </p:nvSpPr>
        <p:spPr>
          <a:xfrm>
            <a:off x="5178900" y="1206600"/>
            <a:ext cx="3653400" cy="3416400"/>
          </a:xfrm>
          <a:prstGeom prst="rect">
            <a:avLst/>
          </a:prstGeom>
        </p:spPr>
        <p:txBody>
          <a:bodyPr anchorCtr="0" anchor="t" bIns="91425" lIns="91425" spcFirstLastPara="1" rIns="91425" wrap="square" tIns="91425">
            <a:normAutofit/>
          </a:bodyPr>
          <a:lstStyle/>
          <a:p>
            <a:pPr indent="0" lvl="0" marL="152400" marR="152400" rtl="0" algn="l">
              <a:spcBef>
                <a:spcPts val="0"/>
              </a:spcBef>
              <a:spcAft>
                <a:spcPts val="0"/>
              </a:spcAft>
              <a:buClr>
                <a:schemeClr val="dk1"/>
              </a:buClr>
              <a:buSzPts val="1100"/>
              <a:buFont typeface="Arial"/>
              <a:buNone/>
            </a:pPr>
            <a:r>
              <a:rPr b="1" lang="en" sz="1200">
                <a:solidFill>
                  <a:schemeClr val="lt1"/>
                </a:solidFill>
              </a:rPr>
              <a:t>Pattern</a:t>
            </a:r>
            <a:endParaRPr b="1" sz="1200">
              <a:solidFill>
                <a:schemeClr val="lt1"/>
              </a:solidFill>
            </a:endParaRPr>
          </a:p>
          <a:p>
            <a:pPr indent="0" lvl="0" marL="152400" marR="152400" rtl="0" algn="l">
              <a:spcBef>
                <a:spcPts val="200"/>
              </a:spcBef>
              <a:spcAft>
                <a:spcPts val="0"/>
              </a:spcAft>
              <a:buNone/>
            </a:pPr>
            <a:r>
              <a:rPr lang="en" sz="1200">
                <a:solidFill>
                  <a:schemeClr val="lt1"/>
                </a:solidFill>
              </a:rPr>
              <a:t>Every bar is negative. The gap is largest in Science Fiction (-0.31), Fantasy, Horror, and Action, and smallest in History and Documentary (about -0.03 to -0.04).</a:t>
            </a:r>
            <a:endParaRPr sz="1200">
              <a:solidFill>
                <a:schemeClr val="lt1"/>
              </a:solidFill>
            </a:endParaRPr>
          </a:p>
          <a:p>
            <a:pPr indent="0" lvl="0" marL="0" marR="152400" rtl="0" algn="l">
              <a:spcBef>
                <a:spcPts val="0"/>
              </a:spcBef>
              <a:spcAft>
                <a:spcPts val="0"/>
              </a:spcAft>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rPr b="1" lang="en" sz="1200">
                <a:solidFill>
                  <a:schemeClr val="lt1"/>
                </a:solidFill>
              </a:rPr>
              <a:t>What it means</a:t>
            </a:r>
            <a:endParaRPr b="1" sz="1200">
              <a:solidFill>
                <a:schemeClr val="lt1"/>
              </a:solidFill>
            </a:endParaRPr>
          </a:p>
          <a:p>
            <a:pPr indent="0" lvl="0" marL="152400" marR="152400" rtl="0" algn="l">
              <a:spcBef>
                <a:spcPts val="200"/>
              </a:spcBef>
              <a:spcAft>
                <a:spcPts val="0"/>
              </a:spcAft>
              <a:buClr>
                <a:schemeClr val="dk1"/>
              </a:buClr>
              <a:buSzPts val="1100"/>
              <a:buFont typeface="Arial"/>
              <a:buNone/>
            </a:pPr>
            <a:r>
              <a:rPr lang="en" sz="1200">
                <a:solidFill>
                  <a:schemeClr val="lt1"/>
                </a:solidFill>
              </a:rPr>
              <a:t>This is not a one-genre story. It is strongest in studio-style, franchise-friendly genres.</a:t>
            </a:r>
            <a:endParaRPr sz="1200">
              <a:solidFill>
                <a:schemeClr val="lt1"/>
              </a:solidFill>
            </a:endParaRPr>
          </a:p>
          <a:p>
            <a:pPr indent="0" lvl="0" marL="0" rtl="0" algn="l">
              <a:spcBef>
                <a:spcPts val="0"/>
              </a:spcBef>
              <a:spcAft>
                <a:spcPts val="1200"/>
              </a:spcAft>
              <a:buNone/>
            </a:pPr>
            <a:r>
              <a:t/>
            </a:r>
            <a:endParaRPr sz="1200">
              <a:solidFill>
                <a:schemeClr val="lt1"/>
              </a:solidFill>
            </a:endParaRPr>
          </a:p>
        </p:txBody>
      </p:sp>
      <p:pic>
        <p:nvPicPr>
          <p:cNvPr id="109" name="Google Shape;109;p20" title="Screenshot 2026-10-08 at 11.59.57 AM.png"/>
          <p:cNvPicPr preferRelativeResize="0"/>
          <p:nvPr/>
        </p:nvPicPr>
        <p:blipFill>
          <a:blip r:embed="rId3">
            <a:alphaModFix/>
          </a:blip>
          <a:stretch>
            <a:fillRect/>
          </a:stretch>
        </p:blipFill>
        <p:spPr>
          <a:xfrm>
            <a:off x="311700" y="1152475"/>
            <a:ext cx="4706185" cy="3416401"/>
          </a:xfrm>
          <a:prstGeom prst="rect">
            <a:avLst/>
          </a:prstGeom>
          <a:noFill/>
          <a:ln>
            <a:noFill/>
          </a:ln>
        </p:spPr>
      </p:pic>
      <p:pic>
        <p:nvPicPr>
          <p:cNvPr id="110" name="Google Shape;110;p20" title="image-removebg-preview-16.png"/>
          <p:cNvPicPr preferRelativeResize="0"/>
          <p:nvPr/>
        </p:nvPicPr>
        <p:blipFill>
          <a:blip r:embed="rId4">
            <a:alphaModFix/>
          </a:blip>
          <a:stretch>
            <a:fillRect/>
          </a:stretch>
        </p:blipFill>
        <p:spPr>
          <a:xfrm flipH="1">
            <a:off x="7757750" y="3256463"/>
            <a:ext cx="1538137" cy="2205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b="1" lang="en" sz="2000">
                <a:solidFill>
                  <a:schemeClr val="lt1"/>
                </a:solidFill>
                <a:latin typeface="Georgia"/>
                <a:ea typeface="Georgia"/>
                <a:cs typeface="Georgia"/>
                <a:sym typeface="Georgia"/>
              </a:rPr>
              <a:t>Genre results: raw mean difference vs interaction coefficient</a:t>
            </a:r>
            <a:endParaRPr b="1" sz="2000">
              <a:solidFill>
                <a:schemeClr val="lt1"/>
              </a:solidFill>
              <a:latin typeface="Georgia"/>
              <a:ea typeface="Georgia"/>
              <a:cs typeface="Georgia"/>
              <a:sym typeface="Georgia"/>
            </a:endParaRPr>
          </a:p>
          <a:p>
            <a:pPr indent="0" lvl="0" marL="0" rtl="0" algn="l">
              <a:spcBef>
                <a:spcPts val="0"/>
              </a:spcBef>
              <a:spcAft>
                <a:spcPts val="0"/>
              </a:spcAft>
              <a:buNone/>
            </a:pPr>
            <a:r>
              <a:t/>
            </a:r>
            <a:endParaRPr>
              <a:solidFill>
                <a:schemeClr val="lt1"/>
              </a:solidFill>
            </a:endParaRPr>
          </a:p>
        </p:txBody>
      </p:sp>
      <p:sp>
        <p:nvSpPr>
          <p:cNvPr id="116" name="Google Shape;116;p21"/>
          <p:cNvSpPr txBox="1"/>
          <p:nvPr>
            <p:ph idx="1" type="body"/>
          </p:nvPr>
        </p:nvSpPr>
        <p:spPr>
          <a:xfrm>
            <a:off x="5311425" y="1152475"/>
            <a:ext cx="3520800" cy="3416400"/>
          </a:xfrm>
          <a:prstGeom prst="rect">
            <a:avLst/>
          </a:prstGeom>
        </p:spPr>
        <p:txBody>
          <a:bodyPr anchorCtr="0" anchor="t" bIns="91425" lIns="91425" spcFirstLastPara="1" rIns="91425" wrap="square" tIns="91425">
            <a:normAutofit/>
          </a:bodyPr>
          <a:lstStyle/>
          <a:p>
            <a:pPr indent="0" lvl="0" marL="152400" marR="152400" rtl="0" algn="l">
              <a:spcBef>
                <a:spcPts val="0"/>
              </a:spcBef>
              <a:spcAft>
                <a:spcPts val="0"/>
              </a:spcAft>
              <a:buClr>
                <a:schemeClr val="dk1"/>
              </a:buClr>
              <a:buSzPts val="1100"/>
              <a:buFont typeface="Arial"/>
              <a:buNone/>
            </a:pPr>
            <a:r>
              <a:rPr b="1" lang="en" sz="1200">
                <a:solidFill>
                  <a:schemeClr val="lt1"/>
                </a:solidFill>
              </a:rPr>
              <a:t>Pattern</a:t>
            </a:r>
            <a:endParaRPr b="1" sz="1200">
              <a:solidFill>
                <a:schemeClr val="lt1"/>
              </a:solidFill>
            </a:endParaRPr>
          </a:p>
          <a:p>
            <a:pPr indent="0" lvl="0" marL="152400" marR="152400" rtl="0" algn="l">
              <a:spcBef>
                <a:spcPts val="200"/>
              </a:spcBef>
              <a:spcAft>
                <a:spcPts val="0"/>
              </a:spcAft>
              <a:buNone/>
            </a:pPr>
            <a:r>
              <a:rPr lang="en" sz="1200">
                <a:solidFill>
                  <a:schemeClr val="lt1"/>
                </a:solidFill>
              </a:rPr>
              <a:t>Raw mean differences range tenfold, from -0.31 to -0.03. The interaction coefficients are smaller, from -0.10 to +0.12.</a:t>
            </a:r>
            <a:endParaRPr sz="1200">
              <a:solidFill>
                <a:schemeClr val="lt1"/>
              </a:solidFill>
            </a:endParaRPr>
          </a:p>
          <a:p>
            <a:pPr indent="0" lvl="0" marL="152400" marR="152400" rtl="0" algn="l">
              <a:spcBef>
                <a:spcPts val="0"/>
              </a:spcBef>
              <a:spcAft>
                <a:spcPts val="0"/>
              </a:spcAft>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rPr b="1" lang="en" sz="1200">
                <a:solidFill>
                  <a:schemeClr val="lt1"/>
                </a:solidFill>
              </a:rPr>
              <a:t>What it means</a:t>
            </a:r>
            <a:endParaRPr b="1" sz="1200">
              <a:solidFill>
                <a:schemeClr val="lt1"/>
              </a:solidFill>
            </a:endParaRPr>
          </a:p>
          <a:p>
            <a:pPr indent="0" lvl="0" marL="152400" marR="152400" rtl="0" algn="l">
              <a:spcBef>
                <a:spcPts val="200"/>
              </a:spcBef>
              <a:spcAft>
                <a:spcPts val="0"/>
              </a:spcAft>
              <a:buClr>
                <a:schemeClr val="dk1"/>
              </a:buClr>
              <a:buSzPts val="1100"/>
              <a:buFont typeface="Arial"/>
              <a:buNone/>
            </a:pPr>
            <a:r>
              <a:rPr lang="en" sz="1200">
                <a:solidFill>
                  <a:schemeClr val="lt1"/>
                </a:solidFill>
              </a:rPr>
              <a:t>Family is the only genre whose interaction coefficient stays large. Science Fiction's raw difference shrinks to -0.02 once overlapping genres, year, and runtime are controlled for (confounding), and Documentary's coefficient turns positive.</a:t>
            </a:r>
            <a:endParaRPr sz="1200">
              <a:solidFill>
                <a:schemeClr val="lt1"/>
              </a:solidFill>
            </a:endParaRPr>
          </a:p>
          <a:p>
            <a:pPr indent="0" lvl="0" marL="0" rtl="0" algn="l">
              <a:spcBef>
                <a:spcPts val="0"/>
              </a:spcBef>
              <a:spcAft>
                <a:spcPts val="1200"/>
              </a:spcAft>
              <a:buNone/>
            </a:pPr>
            <a:r>
              <a:t/>
            </a:r>
            <a:endParaRPr sz="1200">
              <a:solidFill>
                <a:schemeClr val="lt1"/>
              </a:solidFill>
            </a:endParaRPr>
          </a:p>
        </p:txBody>
      </p:sp>
      <p:pic>
        <p:nvPicPr>
          <p:cNvPr id="117" name="Google Shape;117;p21" title="Screenshot 2026-10-08 at 12.00.57 PM.png"/>
          <p:cNvPicPr preferRelativeResize="0"/>
          <p:nvPr/>
        </p:nvPicPr>
        <p:blipFill>
          <a:blip r:embed="rId3">
            <a:alphaModFix/>
          </a:blip>
          <a:stretch>
            <a:fillRect/>
          </a:stretch>
        </p:blipFill>
        <p:spPr>
          <a:xfrm>
            <a:off x="311700" y="1152475"/>
            <a:ext cx="4770207" cy="34163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0"/>
              </a:spcBef>
              <a:spcAft>
                <a:spcPts val="0"/>
              </a:spcAft>
              <a:buClr>
                <a:schemeClr val="dk1"/>
              </a:buClr>
              <a:buSzPct val="54098"/>
              <a:buFont typeface="Arial"/>
              <a:buNone/>
            </a:pPr>
            <a:r>
              <a:rPr b="1" lang="en" sz="2033">
                <a:solidFill>
                  <a:schemeClr val="lt1"/>
                </a:solidFill>
                <a:latin typeface="Georgia"/>
                <a:ea typeface="Georgia"/>
                <a:cs typeface="Georgia"/>
                <a:sym typeface="Georgia"/>
              </a:rPr>
              <a:t>Model comparison: all beat the baseline, tree models beat the linear model</a:t>
            </a:r>
            <a:endParaRPr b="1" sz="2033">
              <a:solidFill>
                <a:schemeClr val="lt1"/>
              </a:solidFill>
              <a:latin typeface="Georgia"/>
              <a:ea typeface="Georgia"/>
              <a:cs typeface="Georgia"/>
              <a:sym typeface="Georgia"/>
            </a:endParaRPr>
          </a:p>
          <a:p>
            <a:pPr indent="0" lvl="0" marL="0" rtl="0" algn="l">
              <a:lnSpc>
                <a:spcPct val="115000"/>
              </a:lnSpc>
              <a:spcBef>
                <a:spcPts val="900"/>
              </a:spcBef>
              <a:spcAft>
                <a:spcPts val="0"/>
              </a:spcAft>
              <a:buClr>
                <a:schemeClr val="dk1"/>
              </a:buClr>
              <a:buSzPct val="129412"/>
              <a:buFont typeface="Arial"/>
              <a:buNone/>
            </a:pPr>
            <a:r>
              <a:t/>
            </a:r>
            <a:endParaRPr sz="850">
              <a:solidFill>
                <a:schemeClr val="lt1"/>
              </a:solidFill>
            </a:endParaRPr>
          </a:p>
          <a:p>
            <a:pPr indent="0" lvl="0" marL="0" rtl="0" algn="l">
              <a:lnSpc>
                <a:spcPct val="115000"/>
              </a:lnSpc>
              <a:spcBef>
                <a:spcPts val="0"/>
              </a:spcBef>
              <a:spcAft>
                <a:spcPts val="0"/>
              </a:spcAft>
              <a:buClr>
                <a:schemeClr val="dk1"/>
              </a:buClr>
              <a:buSzPct val="100000"/>
              <a:buFont typeface="Arial"/>
              <a:buNone/>
            </a:pPr>
            <a:r>
              <a:t/>
            </a:r>
            <a:endParaRPr sz="1100">
              <a:solidFill>
                <a:schemeClr val="lt1"/>
              </a:solidFill>
            </a:endParaRPr>
          </a:p>
          <a:p>
            <a:pPr indent="0" lvl="0" marL="0" rtl="0" algn="l">
              <a:spcBef>
                <a:spcPts val="0"/>
              </a:spcBef>
              <a:spcAft>
                <a:spcPts val="0"/>
              </a:spcAft>
              <a:buNone/>
            </a:pPr>
            <a:r>
              <a:t/>
            </a:r>
            <a:endParaRPr>
              <a:solidFill>
                <a:schemeClr val="lt1"/>
              </a:solidFill>
            </a:endParaRPr>
          </a:p>
        </p:txBody>
      </p:sp>
      <p:pic>
        <p:nvPicPr>
          <p:cNvPr id="123" name="Google Shape;123;p22" title="Screenshot 2026-10-08 at 12.03.11 PM.png"/>
          <p:cNvPicPr preferRelativeResize="0"/>
          <p:nvPr/>
        </p:nvPicPr>
        <p:blipFill>
          <a:blip r:embed="rId3">
            <a:alphaModFix/>
          </a:blip>
          <a:stretch>
            <a:fillRect/>
          </a:stretch>
        </p:blipFill>
        <p:spPr>
          <a:xfrm>
            <a:off x="311700" y="2092125"/>
            <a:ext cx="5140025" cy="1727600"/>
          </a:xfrm>
          <a:prstGeom prst="rect">
            <a:avLst/>
          </a:prstGeom>
          <a:noFill/>
          <a:ln>
            <a:noFill/>
          </a:ln>
        </p:spPr>
      </p:pic>
      <p:sp>
        <p:nvSpPr>
          <p:cNvPr id="124" name="Google Shape;124;p22"/>
          <p:cNvSpPr txBox="1"/>
          <p:nvPr/>
        </p:nvSpPr>
        <p:spPr>
          <a:xfrm>
            <a:off x="6048900" y="1152475"/>
            <a:ext cx="3000000" cy="3606900"/>
          </a:xfrm>
          <a:prstGeom prst="rect">
            <a:avLst/>
          </a:prstGeom>
          <a:noFill/>
          <a:ln>
            <a:noFill/>
          </a:ln>
        </p:spPr>
        <p:txBody>
          <a:bodyPr anchorCtr="0" anchor="t" bIns="91425" lIns="91425" spcFirstLastPara="1" rIns="91425" wrap="square" tIns="91425">
            <a:spAutoFit/>
          </a:bodyPr>
          <a:lstStyle/>
          <a:p>
            <a:pPr indent="0" lvl="0" marL="152400" marR="152400" rtl="0" algn="l">
              <a:lnSpc>
                <a:spcPct val="115000"/>
              </a:lnSpc>
              <a:spcBef>
                <a:spcPts val="0"/>
              </a:spcBef>
              <a:spcAft>
                <a:spcPts val="0"/>
              </a:spcAft>
              <a:buNone/>
            </a:pPr>
            <a:r>
              <a:rPr b="1" lang="en" sz="1200">
                <a:solidFill>
                  <a:schemeClr val="lt1"/>
                </a:solidFill>
              </a:rPr>
              <a:t>Pattern</a:t>
            </a:r>
            <a:endParaRPr b="1" sz="1200">
              <a:solidFill>
                <a:schemeClr val="lt1"/>
              </a:solidFill>
            </a:endParaRPr>
          </a:p>
          <a:p>
            <a:pPr indent="0" lvl="0" marL="152400" marR="152400" rtl="0" algn="l">
              <a:lnSpc>
                <a:spcPct val="115000"/>
              </a:lnSpc>
              <a:spcBef>
                <a:spcPts val="200"/>
              </a:spcBef>
              <a:spcAft>
                <a:spcPts val="0"/>
              </a:spcAft>
              <a:buNone/>
            </a:pPr>
            <a:r>
              <a:rPr lang="en" sz="1200">
                <a:solidFill>
                  <a:schemeClr val="lt1"/>
                </a:solidFill>
              </a:rPr>
              <a:t>Every model beats the 0.419 baseline. Tree-based models have about 0.03 lower RMSE than the linear model (Ridge, 0.350). The unpruned tree had a training RMSE of 0.110 but a cross-validated RMSE of 0.439.</a:t>
            </a:r>
            <a:endParaRPr sz="1200">
              <a:solidFill>
                <a:schemeClr val="lt1"/>
              </a:solidFill>
            </a:endParaRPr>
          </a:p>
          <a:p>
            <a:pPr indent="0" lvl="0" marL="152400" marR="152400" rtl="0" algn="l">
              <a:lnSpc>
                <a:spcPct val="115000"/>
              </a:lnSpc>
              <a:spcBef>
                <a:spcPts val="0"/>
              </a:spcBef>
              <a:spcAft>
                <a:spcPts val="0"/>
              </a:spcAft>
              <a:buNone/>
            </a:pPr>
            <a:r>
              <a:t/>
            </a:r>
            <a:endParaRPr sz="1200">
              <a:solidFill>
                <a:schemeClr val="lt1"/>
              </a:solidFill>
            </a:endParaRPr>
          </a:p>
          <a:p>
            <a:pPr indent="0" lvl="0" marL="152400" marR="152400" rtl="0" algn="l">
              <a:lnSpc>
                <a:spcPct val="115000"/>
              </a:lnSpc>
              <a:spcBef>
                <a:spcPts val="0"/>
              </a:spcBef>
              <a:spcAft>
                <a:spcPts val="0"/>
              </a:spcAft>
              <a:buNone/>
            </a:pPr>
            <a:r>
              <a:rPr b="1" lang="en" sz="1200">
                <a:solidFill>
                  <a:schemeClr val="lt1"/>
                </a:solidFill>
              </a:rPr>
              <a:t>What it means</a:t>
            </a:r>
            <a:endParaRPr b="1" sz="1200">
              <a:solidFill>
                <a:schemeClr val="lt1"/>
              </a:solidFill>
            </a:endParaRPr>
          </a:p>
          <a:p>
            <a:pPr indent="0" lvl="0" marL="152400" marR="152400" rtl="0" algn="l">
              <a:lnSpc>
                <a:spcPct val="115000"/>
              </a:lnSpc>
              <a:spcBef>
                <a:spcPts val="200"/>
              </a:spcBef>
              <a:spcAft>
                <a:spcPts val="0"/>
              </a:spcAft>
              <a:buNone/>
            </a:pPr>
            <a:r>
              <a:rPr lang="en" sz="1200">
                <a:solidFill>
                  <a:schemeClr val="lt1"/>
                </a:solidFill>
              </a:rPr>
              <a:t>Ratings depend on features in nonlinear ways that an additive linear model misses. The unpruned tree overfit the training set, which is why we rely on validation scores from unseen data.</a:t>
            </a:r>
            <a:endParaRPr sz="12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990"/>
              <a:buFont typeface="Arial"/>
              <a:buNone/>
            </a:pPr>
            <a:r>
              <a:rPr b="1" lang="en" sz="1830">
                <a:solidFill>
                  <a:schemeClr val="lt1"/>
                </a:solidFill>
                <a:latin typeface="Georgia"/>
                <a:ea typeface="Georgia"/>
                <a:cs typeface="Georgia"/>
                <a:sym typeface="Georgia"/>
              </a:rPr>
              <a:t>All model results</a:t>
            </a:r>
            <a:endParaRPr b="1" sz="1830">
              <a:solidFill>
                <a:schemeClr val="lt1"/>
              </a:solidFill>
              <a:latin typeface="Georgia"/>
              <a:ea typeface="Georgia"/>
              <a:cs typeface="Georgia"/>
              <a:sym typeface="Georgia"/>
            </a:endParaRPr>
          </a:p>
          <a:p>
            <a:pPr indent="0" lvl="0" marL="0" rtl="0" algn="l">
              <a:spcBef>
                <a:spcPts val="900"/>
              </a:spcBef>
              <a:spcAft>
                <a:spcPts val="0"/>
              </a:spcAft>
              <a:buSzPts val="990"/>
              <a:buNone/>
            </a:pPr>
            <a:r>
              <a:t/>
            </a:r>
            <a:endParaRPr sz="2520">
              <a:solidFill>
                <a:schemeClr val="lt1"/>
              </a:solidFill>
            </a:endParaRPr>
          </a:p>
        </p:txBody>
      </p:sp>
      <p:sp>
        <p:nvSpPr>
          <p:cNvPr id="130" name="Google Shape;130;p23"/>
          <p:cNvSpPr txBox="1"/>
          <p:nvPr>
            <p:ph idx="1" type="body"/>
          </p:nvPr>
        </p:nvSpPr>
        <p:spPr>
          <a:xfrm>
            <a:off x="6044950" y="1162107"/>
            <a:ext cx="2787300" cy="3416400"/>
          </a:xfrm>
          <a:prstGeom prst="rect">
            <a:avLst/>
          </a:prstGeom>
        </p:spPr>
        <p:txBody>
          <a:bodyPr anchorCtr="0" anchor="t" bIns="91425" lIns="91425" spcFirstLastPara="1" rIns="91425" wrap="square" tIns="91425">
            <a:noAutofit/>
          </a:bodyPr>
          <a:lstStyle/>
          <a:p>
            <a:pPr indent="0" lvl="0" marL="152400" marR="152400" rtl="0" algn="l">
              <a:spcBef>
                <a:spcPts val="0"/>
              </a:spcBef>
              <a:spcAft>
                <a:spcPts val="0"/>
              </a:spcAft>
              <a:buClr>
                <a:schemeClr val="dk1"/>
              </a:buClr>
              <a:buSzPts val="1100"/>
              <a:buFont typeface="Arial"/>
              <a:buNone/>
            </a:pPr>
            <a:r>
              <a:rPr b="1" lang="en" sz="1200">
                <a:solidFill>
                  <a:schemeClr val="lt1"/>
                </a:solidFill>
              </a:rPr>
              <a:t>Pattern</a:t>
            </a:r>
            <a:endParaRPr b="1" sz="1200">
              <a:solidFill>
                <a:schemeClr val="lt1"/>
              </a:solidFill>
            </a:endParaRPr>
          </a:p>
          <a:p>
            <a:pPr indent="0" lvl="0" marL="152400" marR="152400" rtl="0" algn="l">
              <a:spcBef>
                <a:spcPts val="200"/>
              </a:spcBef>
              <a:spcAft>
                <a:spcPts val="0"/>
              </a:spcAft>
              <a:buNone/>
            </a:pPr>
            <a:r>
              <a:rPr lang="en" sz="1200">
                <a:solidFill>
                  <a:schemeClr val="lt1"/>
                </a:solidFill>
              </a:rPr>
              <a:t>The ranking is the same with or without themes. Themes lower CV RMSE by 0.001 to 0.004 and raise R² by up to 0.018. Cross-validated and test RMSE both equal 0.315.</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rPr b="1" lang="en" sz="1200">
                <a:solidFill>
                  <a:schemeClr val="lt1"/>
                </a:solidFill>
              </a:rPr>
              <a:t>What it means</a:t>
            </a:r>
            <a:endParaRPr b="1" sz="1200">
              <a:solidFill>
                <a:schemeClr val="lt1"/>
              </a:solidFill>
            </a:endParaRPr>
          </a:p>
          <a:p>
            <a:pPr indent="0" lvl="0" marL="152400" marR="152400" rtl="0" algn="l">
              <a:spcBef>
                <a:spcPts val="200"/>
              </a:spcBef>
              <a:spcAft>
                <a:spcPts val="0"/>
              </a:spcAft>
              <a:buClr>
                <a:schemeClr val="dk1"/>
              </a:buClr>
              <a:buSzPts val="1100"/>
              <a:buFont typeface="Arial"/>
              <a:buNone/>
            </a:pPr>
            <a:r>
              <a:rPr lang="en" sz="1200">
                <a:solidFill>
                  <a:schemeClr val="lt1"/>
                </a:solidFill>
              </a:rPr>
              <a:t>Model choice changes RMSE by about 0.03, while adding themes changes it by about 0.004. I kept genre-only for simplicity and full coverage, but boosting with themes had the best CV RMSE (0.311).</a:t>
            </a:r>
            <a:endParaRPr sz="1200">
              <a:solidFill>
                <a:schemeClr val="lt1"/>
              </a:solidFill>
            </a:endParaRPr>
          </a:p>
          <a:p>
            <a:pPr indent="0" lvl="0" marL="0" rtl="0" algn="l">
              <a:spcBef>
                <a:spcPts val="0"/>
              </a:spcBef>
              <a:spcAft>
                <a:spcPts val="1200"/>
              </a:spcAft>
              <a:buNone/>
            </a:pPr>
            <a:r>
              <a:t/>
            </a:r>
            <a:endParaRPr sz="1200">
              <a:solidFill>
                <a:schemeClr val="lt1"/>
              </a:solidFill>
            </a:endParaRPr>
          </a:p>
        </p:txBody>
      </p:sp>
      <p:pic>
        <p:nvPicPr>
          <p:cNvPr id="131" name="Google Shape;131;p23" title="Screenshot 2026-10-08 at 12.05.47 PM.png"/>
          <p:cNvPicPr preferRelativeResize="0"/>
          <p:nvPr/>
        </p:nvPicPr>
        <p:blipFill>
          <a:blip r:embed="rId3">
            <a:alphaModFix/>
          </a:blip>
          <a:stretch>
            <a:fillRect/>
          </a:stretch>
        </p:blipFill>
        <p:spPr>
          <a:xfrm>
            <a:off x="311700" y="1113725"/>
            <a:ext cx="5528599" cy="337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4" title="image-removebg-preview-11.png"/>
          <p:cNvPicPr preferRelativeResize="0"/>
          <p:nvPr/>
        </p:nvPicPr>
        <p:blipFill>
          <a:blip r:embed="rId3">
            <a:alphaModFix/>
          </a:blip>
          <a:stretch>
            <a:fillRect/>
          </a:stretch>
        </p:blipFill>
        <p:spPr>
          <a:xfrm rot="10800000">
            <a:off x="1" y="0"/>
            <a:ext cx="2031750" cy="3072625"/>
          </a:xfrm>
          <a:prstGeom prst="rect">
            <a:avLst/>
          </a:prstGeom>
          <a:noFill/>
          <a:ln>
            <a:noFill/>
          </a:ln>
        </p:spPr>
      </p:pic>
      <p:sp>
        <p:nvSpPr>
          <p:cNvPr id="137" name="Google Shape;137;p24"/>
          <p:cNvSpPr txBox="1"/>
          <p:nvPr>
            <p:ph type="title"/>
          </p:nvPr>
        </p:nvSpPr>
        <p:spPr>
          <a:xfrm>
            <a:off x="1339850" y="804732"/>
            <a:ext cx="85206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990"/>
              <a:buFont typeface="Arial"/>
              <a:buNone/>
            </a:pPr>
            <a:r>
              <a:rPr b="1" lang="en" sz="1830">
                <a:solidFill>
                  <a:schemeClr val="lt1"/>
                </a:solidFill>
                <a:latin typeface="Georgia"/>
                <a:ea typeface="Georgia"/>
                <a:cs typeface="Georgia"/>
                <a:sym typeface="Georgia"/>
              </a:rPr>
              <a:t>Why gradient boosting won</a:t>
            </a:r>
            <a:endParaRPr b="1" sz="1830">
              <a:solidFill>
                <a:schemeClr val="lt1"/>
              </a:solidFill>
              <a:latin typeface="Georgia"/>
              <a:ea typeface="Georgia"/>
              <a:cs typeface="Georgia"/>
              <a:sym typeface="Georgia"/>
            </a:endParaRPr>
          </a:p>
          <a:p>
            <a:pPr indent="0" lvl="0" marL="0" rtl="0" algn="l">
              <a:spcBef>
                <a:spcPts val="900"/>
              </a:spcBef>
              <a:spcAft>
                <a:spcPts val="0"/>
              </a:spcAft>
              <a:buSzPts val="990"/>
              <a:buNone/>
            </a:pPr>
            <a:r>
              <a:t/>
            </a:r>
            <a:endParaRPr sz="2520">
              <a:solidFill>
                <a:schemeClr val="lt1"/>
              </a:solidFill>
            </a:endParaRPr>
          </a:p>
        </p:txBody>
      </p:sp>
      <p:sp>
        <p:nvSpPr>
          <p:cNvPr id="138" name="Google Shape;138;p24"/>
          <p:cNvSpPr txBox="1"/>
          <p:nvPr>
            <p:ph idx="1" type="body"/>
          </p:nvPr>
        </p:nvSpPr>
        <p:spPr>
          <a:xfrm>
            <a:off x="143750" y="3399925"/>
            <a:ext cx="2681400" cy="3416400"/>
          </a:xfrm>
          <a:prstGeom prst="rect">
            <a:avLst/>
          </a:prstGeom>
        </p:spPr>
        <p:txBody>
          <a:bodyPr anchorCtr="0" anchor="t" bIns="91425" lIns="91425" spcFirstLastPara="1" rIns="91425" wrap="square" tIns="91425">
            <a:normAutofit/>
          </a:bodyPr>
          <a:lstStyle/>
          <a:p>
            <a:pPr indent="-304800" lvl="0" marL="457200" rtl="0" algn="l">
              <a:spcBef>
                <a:spcPts val="900"/>
              </a:spcBef>
              <a:spcAft>
                <a:spcPts val="0"/>
              </a:spcAft>
              <a:buClr>
                <a:schemeClr val="lt1"/>
              </a:buClr>
              <a:buSzPts val="1200"/>
              <a:buChar char="●"/>
            </a:pPr>
            <a:r>
              <a:rPr lang="en" sz="1200">
                <a:solidFill>
                  <a:schemeClr val="lt1"/>
                </a:solidFill>
              </a:rPr>
              <a:t>Boosting fits many small trees in sequence, each correcting the residuals of the previous ones.</a:t>
            </a:r>
            <a:endParaRPr sz="1200">
              <a:solidFill>
                <a:schemeClr val="lt1"/>
              </a:solidFill>
            </a:endParaRPr>
          </a:p>
          <a:p>
            <a:pPr indent="0" lvl="0" marL="0" rtl="0" algn="l">
              <a:spcBef>
                <a:spcPts val="900"/>
              </a:spcBef>
              <a:spcAft>
                <a:spcPts val="0"/>
              </a:spcAft>
              <a:buNone/>
            </a:pPr>
            <a:r>
              <a:t/>
            </a:r>
            <a:endParaRPr sz="1200">
              <a:solidFill>
                <a:schemeClr val="lt1"/>
              </a:solidFill>
            </a:endParaRPr>
          </a:p>
          <a:p>
            <a:pPr indent="0" lvl="0" marL="0" rtl="0" algn="l">
              <a:spcBef>
                <a:spcPts val="900"/>
              </a:spcBef>
              <a:spcAft>
                <a:spcPts val="0"/>
              </a:spcAft>
              <a:buNone/>
            </a:pPr>
            <a:r>
              <a:t/>
            </a:r>
            <a:endParaRPr sz="1200">
              <a:solidFill>
                <a:schemeClr val="lt1"/>
              </a:solidFill>
            </a:endParaRPr>
          </a:p>
          <a:p>
            <a:pPr indent="0" lvl="0" marL="0" rtl="0" algn="l">
              <a:spcBef>
                <a:spcPts val="900"/>
              </a:spcBef>
              <a:spcAft>
                <a:spcPts val="1200"/>
              </a:spcAft>
              <a:buNone/>
            </a:pPr>
            <a:r>
              <a:t/>
            </a:r>
            <a:endParaRPr>
              <a:solidFill>
                <a:schemeClr val="lt1"/>
              </a:solidFill>
            </a:endParaRPr>
          </a:p>
        </p:txBody>
      </p:sp>
      <p:pic>
        <p:nvPicPr>
          <p:cNvPr id="139" name="Google Shape;139;p24" title="Screenshot 2026-10-08 at 12.06.35 PM.png"/>
          <p:cNvPicPr preferRelativeResize="0"/>
          <p:nvPr/>
        </p:nvPicPr>
        <p:blipFill>
          <a:blip r:embed="rId4">
            <a:alphaModFix/>
          </a:blip>
          <a:stretch>
            <a:fillRect/>
          </a:stretch>
        </p:blipFill>
        <p:spPr>
          <a:xfrm>
            <a:off x="290075" y="1447689"/>
            <a:ext cx="5685549" cy="1743575"/>
          </a:xfrm>
          <a:prstGeom prst="rect">
            <a:avLst/>
          </a:prstGeom>
          <a:noFill/>
          <a:ln>
            <a:noFill/>
          </a:ln>
        </p:spPr>
      </p:pic>
      <p:pic>
        <p:nvPicPr>
          <p:cNvPr id="140" name="Google Shape;140;p24" title="image-removebg-preview-2.png"/>
          <p:cNvPicPr preferRelativeResize="0"/>
          <p:nvPr/>
        </p:nvPicPr>
        <p:blipFill>
          <a:blip r:embed="rId5">
            <a:alphaModFix/>
          </a:blip>
          <a:stretch>
            <a:fillRect/>
          </a:stretch>
        </p:blipFill>
        <p:spPr>
          <a:xfrm>
            <a:off x="5923704" y="2525350"/>
            <a:ext cx="3255150" cy="2618150"/>
          </a:xfrm>
          <a:prstGeom prst="rect">
            <a:avLst/>
          </a:prstGeom>
          <a:noFill/>
          <a:ln>
            <a:noFill/>
          </a:ln>
        </p:spPr>
      </p:pic>
      <p:sp>
        <p:nvSpPr>
          <p:cNvPr id="141" name="Google Shape;141;p24"/>
          <p:cNvSpPr txBox="1"/>
          <p:nvPr/>
        </p:nvSpPr>
        <p:spPr>
          <a:xfrm>
            <a:off x="2902050" y="3399925"/>
            <a:ext cx="30000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900"/>
              </a:spcBef>
              <a:spcAft>
                <a:spcPts val="0"/>
              </a:spcAft>
              <a:buClr>
                <a:schemeClr val="lt1"/>
              </a:buClr>
              <a:buSzPts val="1200"/>
              <a:buChar char="●"/>
            </a:pPr>
            <a:r>
              <a:rPr lang="en" sz="1200">
                <a:solidFill>
                  <a:schemeClr val="lt1"/>
                </a:solidFill>
              </a:rPr>
              <a:t>Hyperparameter tuning did not change the CV RMSE (0.315), so the defaults were already near the best for these features.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990"/>
              <a:buFont typeface="Arial"/>
              <a:buNone/>
            </a:pPr>
            <a:r>
              <a:rPr b="1" lang="en" sz="1830">
                <a:solidFill>
                  <a:schemeClr val="lt1"/>
                </a:solidFill>
                <a:latin typeface="Georgia"/>
                <a:ea typeface="Georgia"/>
                <a:cs typeface="Georgia"/>
                <a:sym typeface="Georgia"/>
              </a:rPr>
              <a:t>The US effect: multiple regression with controls</a:t>
            </a:r>
            <a:endParaRPr b="1" sz="1830">
              <a:solidFill>
                <a:schemeClr val="lt1"/>
              </a:solidFill>
              <a:latin typeface="Georgia"/>
              <a:ea typeface="Georgia"/>
              <a:cs typeface="Georgia"/>
              <a:sym typeface="Georgia"/>
            </a:endParaRPr>
          </a:p>
          <a:p>
            <a:pPr indent="0" lvl="0" marL="0" rtl="0" algn="l">
              <a:spcBef>
                <a:spcPts val="900"/>
              </a:spcBef>
              <a:spcAft>
                <a:spcPts val="0"/>
              </a:spcAft>
              <a:buSzPts val="990"/>
              <a:buNone/>
            </a:pPr>
            <a:r>
              <a:t/>
            </a:r>
            <a:endParaRPr sz="2520">
              <a:solidFill>
                <a:schemeClr val="lt1"/>
              </a:solidFill>
            </a:endParaRPr>
          </a:p>
        </p:txBody>
      </p:sp>
      <p:sp>
        <p:nvSpPr>
          <p:cNvPr id="147" name="Google Shape;147;p25"/>
          <p:cNvSpPr txBox="1"/>
          <p:nvPr>
            <p:ph idx="1" type="body"/>
          </p:nvPr>
        </p:nvSpPr>
        <p:spPr>
          <a:xfrm>
            <a:off x="6318900" y="1448050"/>
            <a:ext cx="2513400" cy="3416400"/>
          </a:xfrm>
          <a:prstGeom prst="rect">
            <a:avLst/>
          </a:prstGeom>
        </p:spPr>
        <p:txBody>
          <a:bodyPr anchorCtr="0" anchor="t" bIns="91425" lIns="91425" spcFirstLastPara="1" rIns="91425" wrap="square" tIns="91425">
            <a:noAutofit/>
          </a:bodyPr>
          <a:lstStyle/>
          <a:p>
            <a:pPr indent="0" lvl="0" marL="152400" marR="152400" rtl="0" algn="l">
              <a:spcBef>
                <a:spcPts val="0"/>
              </a:spcBef>
              <a:spcAft>
                <a:spcPts val="0"/>
              </a:spcAft>
              <a:buClr>
                <a:schemeClr val="dk1"/>
              </a:buClr>
              <a:buSzPts val="1100"/>
              <a:buFont typeface="Arial"/>
              <a:buNone/>
            </a:pPr>
            <a:r>
              <a:rPr b="1" lang="en" sz="1200">
                <a:solidFill>
                  <a:schemeClr val="lt1"/>
                </a:solidFill>
              </a:rPr>
              <a:t>Pattern</a:t>
            </a:r>
            <a:endParaRPr b="1" sz="1200">
              <a:solidFill>
                <a:schemeClr val="lt1"/>
              </a:solidFill>
            </a:endParaRPr>
          </a:p>
          <a:p>
            <a:pPr indent="0" lvl="0" marL="152400" marR="152400" rtl="0" algn="l">
              <a:spcBef>
                <a:spcPts val="200"/>
              </a:spcBef>
              <a:spcAft>
                <a:spcPts val="0"/>
              </a:spcAft>
              <a:buNone/>
            </a:pPr>
            <a:r>
              <a:rPr lang="en" sz="1200">
                <a:solidFill>
                  <a:schemeClr val="lt1"/>
                </a:solidFill>
              </a:rPr>
              <a:t>The coefficient is the same before and after controls (-0.16). It varies by genre (interaction): more negative for Family, Horror, and Action, and positive for Documentary (+0.12).</a:t>
            </a:r>
            <a:endParaRPr sz="1200">
              <a:solidFill>
                <a:schemeClr val="lt1"/>
              </a:solidFill>
            </a:endParaRPr>
          </a:p>
          <a:p>
            <a:pPr indent="0" lvl="0" marL="0" rtl="0" algn="l">
              <a:spcBef>
                <a:spcPts val="0"/>
              </a:spcBef>
              <a:spcAft>
                <a:spcPts val="1200"/>
              </a:spcAft>
              <a:buNone/>
            </a:pPr>
            <a:r>
              <a:t/>
            </a:r>
            <a:endParaRPr>
              <a:solidFill>
                <a:schemeClr val="lt1"/>
              </a:solidFill>
            </a:endParaRPr>
          </a:p>
        </p:txBody>
      </p:sp>
      <p:pic>
        <p:nvPicPr>
          <p:cNvPr id="148" name="Google Shape;148;p25" title="Screenshot 2026-10-08 at 12.09.30 PM.png"/>
          <p:cNvPicPr preferRelativeResize="0"/>
          <p:nvPr/>
        </p:nvPicPr>
        <p:blipFill>
          <a:blip r:embed="rId3">
            <a:alphaModFix/>
          </a:blip>
          <a:stretch>
            <a:fillRect/>
          </a:stretch>
        </p:blipFill>
        <p:spPr>
          <a:xfrm>
            <a:off x="311700" y="1210270"/>
            <a:ext cx="5915324" cy="1815325"/>
          </a:xfrm>
          <a:prstGeom prst="rect">
            <a:avLst/>
          </a:prstGeom>
          <a:noFill/>
          <a:ln>
            <a:noFill/>
          </a:ln>
        </p:spPr>
      </p:pic>
      <p:sp>
        <p:nvSpPr>
          <p:cNvPr id="149" name="Google Shape;149;p25"/>
          <p:cNvSpPr txBox="1"/>
          <p:nvPr/>
        </p:nvSpPr>
        <p:spPr>
          <a:xfrm>
            <a:off x="311700" y="3102550"/>
            <a:ext cx="3000000" cy="107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Georgia"/>
                <a:ea typeface="Georgia"/>
                <a:cs typeface="Georgia"/>
                <a:sym typeface="Georgia"/>
              </a:rPr>
              <a:t>-0.16</a:t>
            </a:r>
            <a:r>
              <a:rPr lang="en">
                <a:solidFill>
                  <a:schemeClr val="lt1"/>
                </a:solidFill>
                <a:latin typeface="Georgia"/>
                <a:ea typeface="Georgia"/>
                <a:cs typeface="Georgia"/>
                <a:sym typeface="Georgia"/>
              </a:rPr>
              <a:t> </a:t>
            </a:r>
            <a:r>
              <a:rPr b="1" lang="en">
                <a:solidFill>
                  <a:schemeClr val="lt1"/>
                </a:solidFill>
                <a:latin typeface="Georgia"/>
                <a:ea typeface="Georgia"/>
                <a:cs typeface="Georgia"/>
                <a:sym typeface="Georgia"/>
              </a:rPr>
              <a:t>stars</a:t>
            </a:r>
            <a:endParaRPr b="1">
              <a:solidFill>
                <a:schemeClr val="lt1"/>
              </a:solidFill>
              <a:latin typeface="Georgia"/>
              <a:ea typeface="Georgia"/>
              <a:cs typeface="Georgia"/>
              <a:sym typeface="Georgia"/>
            </a:endParaRPr>
          </a:p>
          <a:p>
            <a:pPr indent="0" lvl="0" marL="0" rtl="0" algn="l">
              <a:lnSpc>
                <a:spcPct val="115000"/>
              </a:lnSpc>
              <a:spcBef>
                <a:spcPts val="500"/>
              </a:spcBef>
              <a:spcAft>
                <a:spcPts val="500"/>
              </a:spcAft>
              <a:buNone/>
            </a:pPr>
            <a:r>
              <a:rPr lang="en" sz="1200">
                <a:solidFill>
                  <a:schemeClr val="lt1"/>
                </a:solidFill>
              </a:rPr>
              <a:t>US-involved vs non-US, controlling for genre, year, and runtime. 95% CI: -0.165 to -0.154.</a:t>
            </a:r>
            <a:endParaRPr sz="1200">
              <a:solidFill>
                <a:schemeClr val="lt1"/>
              </a:solidFill>
            </a:endParaRPr>
          </a:p>
        </p:txBody>
      </p:sp>
      <p:sp>
        <p:nvSpPr>
          <p:cNvPr id="150" name="Google Shape;150;p25"/>
          <p:cNvSpPr txBox="1"/>
          <p:nvPr/>
        </p:nvSpPr>
        <p:spPr>
          <a:xfrm>
            <a:off x="3367100" y="3102550"/>
            <a:ext cx="3538500" cy="1761900"/>
          </a:xfrm>
          <a:prstGeom prst="rect">
            <a:avLst/>
          </a:prstGeom>
          <a:noFill/>
          <a:ln>
            <a:noFill/>
          </a:ln>
        </p:spPr>
        <p:txBody>
          <a:bodyPr anchorCtr="0" anchor="t" bIns="91425" lIns="91425" spcFirstLastPara="1" rIns="91425" wrap="square" tIns="91425">
            <a:spAutoFit/>
          </a:bodyPr>
          <a:lstStyle/>
          <a:p>
            <a:pPr indent="0" lvl="0" marL="152400" marR="152400" rtl="0" algn="l">
              <a:lnSpc>
                <a:spcPct val="115000"/>
              </a:lnSpc>
              <a:spcBef>
                <a:spcPts val="0"/>
              </a:spcBef>
              <a:spcAft>
                <a:spcPts val="0"/>
              </a:spcAft>
              <a:buNone/>
            </a:pPr>
            <a:r>
              <a:rPr b="1" lang="en" sz="1200">
                <a:solidFill>
                  <a:schemeClr val="lt1"/>
                </a:solidFill>
              </a:rPr>
              <a:t>What it means</a:t>
            </a:r>
            <a:endParaRPr b="1" sz="1200">
              <a:solidFill>
                <a:schemeClr val="lt1"/>
              </a:solidFill>
            </a:endParaRPr>
          </a:p>
          <a:p>
            <a:pPr indent="0" lvl="0" marL="152400" marR="152400" rtl="0" algn="l">
              <a:lnSpc>
                <a:spcPct val="115000"/>
              </a:lnSpc>
              <a:spcBef>
                <a:spcPts val="200"/>
              </a:spcBef>
              <a:spcAft>
                <a:spcPts val="0"/>
              </a:spcAft>
              <a:buNone/>
            </a:pPr>
            <a:r>
              <a:rPr lang="en" sz="1200">
                <a:solidFill>
                  <a:schemeClr val="lt1"/>
                </a:solidFill>
              </a:rPr>
              <a:t>Genre, year, and runtime do not confound it. The interactions are statistically significant but small, reducing residual variance by about 1%. With 70,000 films, effect size matters more than the p-value</a:t>
            </a:r>
            <a:endParaRPr sz="1200">
              <a:solidFill>
                <a:schemeClr val="lt1"/>
              </a:solidFill>
            </a:endParaRPr>
          </a:p>
          <a:p>
            <a:pPr indent="0" lvl="0" marL="0" rtl="0" algn="l">
              <a:lnSpc>
                <a:spcPct val="115000"/>
              </a:lnSpc>
              <a:spcBef>
                <a:spcPts val="0"/>
              </a:spcBef>
              <a:spcAft>
                <a:spcPts val="1200"/>
              </a:spcAft>
              <a:buNone/>
            </a:pPr>
            <a:r>
              <a:t/>
            </a:r>
            <a:endParaRPr sz="1800">
              <a:solidFill>
                <a:schemeClr val="lt1"/>
              </a:solidFill>
            </a:endParaRPr>
          </a:p>
        </p:txBody>
      </p:sp>
      <p:pic>
        <p:nvPicPr>
          <p:cNvPr id="151" name="Google Shape;151;p25" title="image-removebg-preview-14.png"/>
          <p:cNvPicPr preferRelativeResize="0"/>
          <p:nvPr/>
        </p:nvPicPr>
        <p:blipFill>
          <a:blip r:embed="rId4">
            <a:alphaModFix/>
          </a:blip>
          <a:stretch>
            <a:fillRect/>
          </a:stretch>
        </p:blipFill>
        <p:spPr>
          <a:xfrm rot="1693200">
            <a:off x="7577885" y="3505596"/>
            <a:ext cx="1516603" cy="15135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990"/>
              <a:buFont typeface="Arial"/>
              <a:buNone/>
            </a:pPr>
            <a:r>
              <a:rPr b="1" lang="en" sz="1830">
                <a:solidFill>
                  <a:schemeClr val="lt1"/>
                </a:solidFill>
                <a:latin typeface="Georgia"/>
                <a:ea typeface="Georgia"/>
                <a:cs typeface="Georgia"/>
                <a:sym typeface="Georgia"/>
              </a:rPr>
              <a:t>What it might mean for American Studies</a:t>
            </a:r>
            <a:endParaRPr b="1" sz="1830">
              <a:solidFill>
                <a:schemeClr val="lt1"/>
              </a:solidFill>
              <a:latin typeface="Georgia"/>
              <a:ea typeface="Georgia"/>
              <a:cs typeface="Georgia"/>
              <a:sym typeface="Georgia"/>
            </a:endParaRPr>
          </a:p>
          <a:p>
            <a:pPr indent="0" lvl="0" marL="0" rtl="0" algn="l">
              <a:spcBef>
                <a:spcPts val="900"/>
              </a:spcBef>
              <a:spcAft>
                <a:spcPts val="0"/>
              </a:spcAft>
              <a:buSzPts val="990"/>
              <a:buNone/>
            </a:pPr>
            <a:r>
              <a:t/>
            </a:r>
            <a:endParaRPr sz="2520">
              <a:solidFill>
                <a:schemeClr val="lt1"/>
              </a:solidFill>
            </a:endParaRPr>
          </a:p>
        </p:txBody>
      </p:sp>
      <p:sp>
        <p:nvSpPr>
          <p:cNvPr id="157" name="Google Shape;157;p26"/>
          <p:cNvSpPr txBox="1"/>
          <p:nvPr>
            <p:ph idx="1" type="body"/>
          </p:nvPr>
        </p:nvSpPr>
        <p:spPr>
          <a:xfrm>
            <a:off x="214275" y="1163300"/>
            <a:ext cx="5583000" cy="3416400"/>
          </a:xfrm>
          <a:prstGeom prst="rect">
            <a:avLst/>
          </a:prstGeom>
        </p:spPr>
        <p:txBody>
          <a:bodyPr anchorCtr="0" anchor="t" bIns="91425" lIns="91425" spcFirstLastPara="1" rIns="91425" wrap="square" tIns="91425">
            <a:normAutofit lnSpcReduction="10000"/>
          </a:bodyPr>
          <a:lstStyle/>
          <a:p>
            <a:pPr indent="-304800" lvl="0" marL="457200" rtl="0" algn="l">
              <a:spcBef>
                <a:spcPts val="900"/>
              </a:spcBef>
              <a:spcAft>
                <a:spcPts val="0"/>
              </a:spcAft>
              <a:buClr>
                <a:schemeClr val="lt1"/>
              </a:buClr>
              <a:buSzPts val="1200"/>
              <a:buChar char="●"/>
            </a:pPr>
            <a:r>
              <a:rPr b="1" lang="en" sz="1200">
                <a:solidFill>
                  <a:schemeClr val="lt1"/>
                </a:solidFill>
              </a:rPr>
              <a:t>Industry:</a:t>
            </a:r>
            <a:r>
              <a:rPr lang="en" sz="1200">
                <a:solidFill>
                  <a:schemeClr val="lt1"/>
                </a:solidFill>
              </a:rPr>
              <a:t> the widest gaps are in genres tied to Hollywood franchises and mass-market entertainment, which cinephile raters may judge harder.</a:t>
            </a:r>
            <a:endParaRPr sz="1200">
              <a:solidFill>
                <a:schemeClr val="lt1"/>
              </a:solidFill>
            </a:endParaRPr>
          </a:p>
          <a:p>
            <a:pPr indent="0" lvl="0" marL="457200" rtl="0" algn="l">
              <a:spcBef>
                <a:spcPts val="900"/>
              </a:spcBef>
              <a:spcAft>
                <a:spcPts val="0"/>
              </a:spcAft>
              <a:buNone/>
            </a:pPr>
            <a:r>
              <a:t/>
            </a:r>
            <a:endParaRPr sz="1200">
              <a:solidFill>
                <a:schemeClr val="lt1"/>
              </a:solidFill>
            </a:endParaRPr>
          </a:p>
          <a:p>
            <a:pPr indent="-304800" lvl="0" marL="457200" rtl="0" algn="l">
              <a:spcBef>
                <a:spcPts val="900"/>
              </a:spcBef>
              <a:spcAft>
                <a:spcPts val="0"/>
              </a:spcAft>
              <a:buClr>
                <a:schemeClr val="lt1"/>
              </a:buClr>
              <a:buSzPts val="1200"/>
              <a:buChar char="●"/>
            </a:pPr>
            <a:r>
              <a:rPr b="1" lang="en" sz="1200">
                <a:solidFill>
                  <a:schemeClr val="lt1"/>
                </a:solidFill>
              </a:rPr>
              <a:t>Horror:</a:t>
            </a:r>
            <a:r>
              <a:rPr lang="en" sz="1200">
                <a:solidFill>
                  <a:schemeClr val="lt1"/>
                </a:solidFill>
              </a:rPr>
              <a:t> American horror often works through social fears, as in Black Horror, but one average blends slashers with pointed films. Split by subgenre next.</a:t>
            </a:r>
            <a:endParaRPr sz="1200">
              <a:solidFill>
                <a:schemeClr val="lt1"/>
              </a:solidFill>
            </a:endParaRPr>
          </a:p>
          <a:p>
            <a:pPr indent="0" lvl="0" marL="457200" rtl="0" algn="l">
              <a:spcBef>
                <a:spcPts val="900"/>
              </a:spcBef>
              <a:spcAft>
                <a:spcPts val="0"/>
              </a:spcAft>
              <a:buNone/>
            </a:pPr>
            <a:r>
              <a:t/>
            </a:r>
            <a:endParaRPr sz="1200">
              <a:solidFill>
                <a:schemeClr val="lt1"/>
              </a:solidFill>
            </a:endParaRPr>
          </a:p>
          <a:p>
            <a:pPr indent="-304800" lvl="0" marL="457200" rtl="0" algn="l">
              <a:spcBef>
                <a:spcPts val="900"/>
              </a:spcBef>
              <a:spcAft>
                <a:spcPts val="0"/>
              </a:spcAft>
              <a:buClr>
                <a:schemeClr val="lt1"/>
              </a:buClr>
              <a:buSzPts val="1200"/>
              <a:buChar char="●"/>
            </a:pPr>
            <a:r>
              <a:rPr b="1" lang="en" sz="1200">
                <a:solidFill>
                  <a:schemeClr val="lt1"/>
                </a:solidFill>
              </a:rPr>
              <a:t>Documentary:</a:t>
            </a:r>
            <a:r>
              <a:rPr lang="en" sz="1200">
                <a:solidFill>
                  <a:schemeClr val="lt1"/>
                </a:solidFill>
              </a:rPr>
              <a:t> the reversal may reflect a tradition of social inquiry.</a:t>
            </a:r>
            <a:endParaRPr sz="1200">
              <a:solidFill>
                <a:schemeClr val="lt1"/>
              </a:solidFill>
            </a:endParaRPr>
          </a:p>
          <a:p>
            <a:pPr indent="0" lvl="0" marL="457200" rtl="0" algn="l">
              <a:spcBef>
                <a:spcPts val="900"/>
              </a:spcBef>
              <a:spcAft>
                <a:spcPts val="0"/>
              </a:spcAft>
              <a:buNone/>
            </a:pPr>
            <a:r>
              <a:t/>
            </a:r>
            <a:endParaRPr sz="1200">
              <a:solidFill>
                <a:schemeClr val="lt1"/>
              </a:solidFill>
            </a:endParaRPr>
          </a:p>
          <a:p>
            <a:pPr indent="-304800" lvl="0" marL="457200" rtl="0" algn="l">
              <a:spcBef>
                <a:spcPts val="900"/>
              </a:spcBef>
              <a:spcAft>
                <a:spcPts val="0"/>
              </a:spcAft>
              <a:buClr>
                <a:schemeClr val="lt1"/>
              </a:buClr>
              <a:buSzPts val="1200"/>
              <a:buChar char="●"/>
            </a:pPr>
            <a:r>
              <a:rPr b="1" lang="en" sz="1200">
                <a:solidFill>
                  <a:schemeClr val="lt1"/>
                </a:solidFill>
              </a:rPr>
              <a:t>Filtering:</a:t>
            </a:r>
            <a:r>
              <a:rPr lang="en" sz="1200">
                <a:solidFill>
                  <a:schemeClr val="lt1"/>
                </a:solidFill>
              </a:rPr>
              <a:t> non-US films reach Letterboxd through festivals and distributors, while US films arrive unfiltered.</a:t>
            </a:r>
            <a:endParaRPr sz="1200">
              <a:solidFill>
                <a:schemeClr val="lt1"/>
              </a:solidFill>
            </a:endParaRPr>
          </a:p>
          <a:p>
            <a:pPr indent="0" lvl="0" marL="0" rtl="0" algn="l">
              <a:spcBef>
                <a:spcPts val="900"/>
              </a:spcBef>
              <a:spcAft>
                <a:spcPts val="1200"/>
              </a:spcAft>
              <a:buNone/>
            </a:pPr>
            <a:r>
              <a:t/>
            </a:r>
            <a:endParaRPr>
              <a:solidFill>
                <a:schemeClr val="lt1"/>
              </a:solidFill>
            </a:endParaRPr>
          </a:p>
        </p:txBody>
      </p:sp>
      <p:pic>
        <p:nvPicPr>
          <p:cNvPr id="158" name="Google Shape;158;p26"/>
          <p:cNvPicPr preferRelativeResize="0"/>
          <p:nvPr/>
        </p:nvPicPr>
        <p:blipFill rotWithShape="1">
          <a:blip r:embed="rId3">
            <a:alphaModFix/>
          </a:blip>
          <a:srcRect b="0" l="4120" r="7094" t="0"/>
          <a:stretch/>
        </p:blipFill>
        <p:spPr>
          <a:xfrm>
            <a:off x="5947640" y="179400"/>
            <a:ext cx="3000600" cy="4784700"/>
          </a:xfrm>
          <a:prstGeom prst="roundRect">
            <a:avLst>
              <a:gd fmla="val 16667" name="adj"/>
            </a:avLst>
          </a:prstGeom>
          <a:noFill/>
          <a:ln cap="flat" cmpd="sng" w="28575">
            <a:solidFill>
              <a:schemeClr val="lt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1660725" y="477438"/>
            <a:ext cx="54228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SzPts val="990"/>
              <a:buNone/>
            </a:pPr>
            <a:r>
              <a:rPr b="1" lang="en" sz="1830">
                <a:solidFill>
                  <a:schemeClr val="lt1"/>
                </a:solidFill>
                <a:latin typeface="Georgia"/>
                <a:ea typeface="Georgia"/>
                <a:cs typeface="Georgia"/>
                <a:sym typeface="Georgia"/>
              </a:rPr>
              <a:t>Limits and what to do  better next time</a:t>
            </a:r>
            <a:endParaRPr b="1" sz="1830">
              <a:solidFill>
                <a:schemeClr val="lt1"/>
              </a:solidFill>
              <a:latin typeface="Georgia"/>
              <a:ea typeface="Georgia"/>
              <a:cs typeface="Georgia"/>
              <a:sym typeface="Georgia"/>
            </a:endParaRPr>
          </a:p>
          <a:p>
            <a:pPr indent="0" lvl="0" marL="0" rtl="0" algn="l">
              <a:spcBef>
                <a:spcPts val="900"/>
              </a:spcBef>
              <a:spcAft>
                <a:spcPts val="0"/>
              </a:spcAft>
              <a:buSzPts val="990"/>
              <a:buNone/>
            </a:pPr>
            <a:r>
              <a:t/>
            </a:r>
            <a:endParaRPr sz="2520">
              <a:solidFill>
                <a:schemeClr val="lt1"/>
              </a:solidFill>
            </a:endParaRPr>
          </a:p>
        </p:txBody>
      </p:sp>
      <p:sp>
        <p:nvSpPr>
          <p:cNvPr id="164" name="Google Shape;164;p27"/>
          <p:cNvSpPr txBox="1"/>
          <p:nvPr>
            <p:ph idx="1" type="body"/>
          </p:nvPr>
        </p:nvSpPr>
        <p:spPr>
          <a:xfrm>
            <a:off x="668900" y="1527575"/>
            <a:ext cx="5803800" cy="3416400"/>
          </a:xfrm>
          <a:prstGeom prst="rect">
            <a:avLst/>
          </a:prstGeom>
        </p:spPr>
        <p:txBody>
          <a:bodyPr anchorCtr="0" anchor="t" bIns="91425" lIns="91425" spcFirstLastPara="1" rIns="91425" wrap="square" tIns="91425">
            <a:normAutofit/>
          </a:bodyPr>
          <a:lstStyle/>
          <a:p>
            <a:pPr indent="0" lvl="0" marL="152400" marR="152400" rtl="0" algn="l">
              <a:spcBef>
                <a:spcPts val="0"/>
              </a:spcBef>
              <a:spcAft>
                <a:spcPts val="0"/>
              </a:spcAft>
              <a:buClr>
                <a:schemeClr val="dk1"/>
              </a:buClr>
              <a:buSzPts val="1100"/>
              <a:buFont typeface="Arial"/>
              <a:buNone/>
            </a:pPr>
            <a:r>
              <a:rPr b="1" lang="en" sz="1200">
                <a:solidFill>
                  <a:schemeClr val="lt1"/>
                </a:solidFill>
              </a:rPr>
              <a:t>Limits</a:t>
            </a:r>
            <a:endParaRPr b="1" sz="1200">
              <a:solidFill>
                <a:schemeClr val="lt1"/>
              </a:solidFill>
            </a:endParaRPr>
          </a:p>
          <a:p>
            <a:pPr indent="0" lvl="0" marL="152400" marR="152400" rtl="0" algn="l">
              <a:spcBef>
                <a:spcPts val="200"/>
              </a:spcBef>
              <a:spcAft>
                <a:spcPts val="0"/>
              </a:spcAft>
              <a:buNone/>
            </a:pPr>
            <a:r>
              <a:rPr lang="en" sz="1200">
                <a:solidFill>
                  <a:schemeClr val="lt1"/>
                </a:solidFill>
              </a:rPr>
              <a:t>No rating-count variable, so some average ratings are noisy. Letterboxd users are a self-selected sample (selection bias). The result shows association, not cause. "American" comes from production country. Themes are missing for most films.</a:t>
            </a:r>
            <a:endParaRPr sz="1200">
              <a:solidFill>
                <a:schemeClr val="lt1"/>
              </a:solidFill>
            </a:endParaRPr>
          </a:p>
          <a:p>
            <a:pPr indent="0" lvl="0" marL="152400" marR="152400" rtl="0" algn="l">
              <a:spcBef>
                <a:spcPts val="0"/>
              </a:spcBef>
              <a:spcAft>
                <a:spcPts val="0"/>
              </a:spcAft>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t/>
            </a:r>
            <a:endParaRPr sz="1200">
              <a:solidFill>
                <a:schemeClr val="lt1"/>
              </a:solidFill>
            </a:endParaRPr>
          </a:p>
          <a:p>
            <a:pPr indent="0" lvl="0" marL="152400" marR="152400" rtl="0" algn="l">
              <a:spcBef>
                <a:spcPts val="0"/>
              </a:spcBef>
              <a:spcAft>
                <a:spcPts val="0"/>
              </a:spcAft>
              <a:buClr>
                <a:schemeClr val="dk1"/>
              </a:buClr>
              <a:buSzPts val="1100"/>
              <a:buFont typeface="Arial"/>
              <a:buNone/>
            </a:pPr>
            <a:r>
              <a:rPr b="1" lang="en" sz="1200">
                <a:solidFill>
                  <a:schemeClr val="lt1"/>
                </a:solidFill>
              </a:rPr>
              <a:t>Next time</a:t>
            </a:r>
            <a:endParaRPr b="1" sz="1200">
              <a:solidFill>
                <a:schemeClr val="lt1"/>
              </a:solidFill>
            </a:endParaRPr>
          </a:p>
          <a:p>
            <a:pPr indent="0" lvl="0" marL="152400" marR="152400" rtl="0" algn="l">
              <a:spcBef>
                <a:spcPts val="200"/>
              </a:spcBef>
              <a:spcAft>
                <a:spcPts val="0"/>
              </a:spcAft>
              <a:buClr>
                <a:schemeClr val="dk1"/>
              </a:buClr>
              <a:buSzPts val="1100"/>
              <a:buFont typeface="Arial"/>
              <a:buNone/>
            </a:pPr>
            <a:r>
              <a:rPr lang="en" sz="1200">
                <a:solidFill>
                  <a:schemeClr val="lt1"/>
                </a:solidFill>
              </a:rPr>
              <a:t>Add rating counts and filter or weight by them. Compare countries one by one, not as "non-US". Add budget, cast, and production details. Analyze film descriptions for social themes. Repeat cross-validation to test whether boosting truly beats the random forest. Use a time-based split: train on older films, test on the newest.</a:t>
            </a:r>
            <a:endParaRPr sz="1200">
              <a:solidFill>
                <a:schemeClr val="lt1"/>
              </a:solidFill>
            </a:endParaRPr>
          </a:p>
          <a:p>
            <a:pPr indent="0" lvl="0" marL="0" rtl="0" algn="l">
              <a:spcBef>
                <a:spcPts val="0"/>
              </a:spcBef>
              <a:spcAft>
                <a:spcPts val="1200"/>
              </a:spcAft>
              <a:buNone/>
            </a:pPr>
            <a:r>
              <a:t/>
            </a:r>
            <a:endParaRPr sz="1200">
              <a:solidFill>
                <a:schemeClr val="lt1"/>
              </a:solidFill>
            </a:endParaRPr>
          </a:p>
        </p:txBody>
      </p:sp>
      <p:pic>
        <p:nvPicPr>
          <p:cNvPr id="165" name="Google Shape;165;p27" title="image-removebg-preview-3.png"/>
          <p:cNvPicPr preferRelativeResize="0"/>
          <p:nvPr/>
        </p:nvPicPr>
        <p:blipFill>
          <a:blip r:embed="rId3">
            <a:alphaModFix/>
          </a:blip>
          <a:stretch>
            <a:fillRect/>
          </a:stretch>
        </p:blipFill>
        <p:spPr>
          <a:xfrm rot="5400000">
            <a:off x="191438" y="58287"/>
            <a:ext cx="1341850" cy="1596725"/>
          </a:xfrm>
          <a:prstGeom prst="rect">
            <a:avLst/>
          </a:prstGeom>
          <a:noFill/>
          <a:ln>
            <a:noFill/>
          </a:ln>
        </p:spPr>
      </p:pic>
      <p:pic>
        <p:nvPicPr>
          <p:cNvPr id="166" name="Google Shape;166;p27"/>
          <p:cNvPicPr preferRelativeResize="0"/>
          <p:nvPr/>
        </p:nvPicPr>
        <p:blipFill>
          <a:blip r:embed="rId4">
            <a:alphaModFix/>
          </a:blip>
          <a:stretch>
            <a:fillRect/>
          </a:stretch>
        </p:blipFill>
        <p:spPr>
          <a:xfrm rot="126604">
            <a:off x="7123113" y="284135"/>
            <a:ext cx="1406148" cy="1966381"/>
          </a:xfrm>
          <a:prstGeom prst="rect">
            <a:avLst/>
          </a:prstGeom>
          <a:noFill/>
          <a:ln>
            <a:noFill/>
          </a:ln>
        </p:spPr>
      </p:pic>
      <p:pic>
        <p:nvPicPr>
          <p:cNvPr id="167" name="Google Shape;167;p27"/>
          <p:cNvPicPr preferRelativeResize="0"/>
          <p:nvPr/>
        </p:nvPicPr>
        <p:blipFill>
          <a:blip r:embed="rId5">
            <a:alphaModFix/>
          </a:blip>
          <a:stretch>
            <a:fillRect/>
          </a:stretch>
        </p:blipFill>
        <p:spPr>
          <a:xfrm rot="-155072">
            <a:off x="6332851" y="2419160"/>
            <a:ext cx="1936993" cy="257194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